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97680" y="0"/>
            <a:ext cx="45720" cy="68580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3291840" cy="411480"/>
          </a:xfrm>
          <a:prstGeom prst="roundRect">
            <a:avLst>
              <a:gd name="adj" fmla="val 48889"/>
            </a:avLst>
          </a:prstGeom>
          <a:solidFill>
            <a:srgbClr val="1E2761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0972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👩‍🎓 學生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3291840" cy="411480"/>
          </a:xfrm>
          <a:prstGeom prst="roundRect">
            <a:avLst>
              <a:gd name="adj" fmla="val 48889"/>
            </a:avLst>
          </a:prstGeom>
          <a:solidFill>
            <a:srgbClr val="1E2761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🧑‍🏫 教師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3291840" cy="411480"/>
          </a:xfrm>
          <a:prstGeom prst="roundRect">
            <a:avLst>
              <a:gd name="adj" fmla="val 48889"/>
            </a:avLst>
          </a:prstGeom>
          <a:solidFill>
            <a:srgbClr val="1E2761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103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🧑‍💻 助教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606040"/>
            <a:ext cx="3291840" cy="411480"/>
          </a:xfrm>
          <a:prstGeom prst="roundRect">
            <a:avLst>
              <a:gd name="adj" fmla="val 48889"/>
            </a:avLst>
          </a:prstGeom>
          <a:solidFill>
            <a:srgbClr val="1E2761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6060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社團幹部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108960"/>
            <a:ext cx="3291840" cy="411480"/>
          </a:xfrm>
          <a:prstGeom prst="roundRect">
            <a:avLst>
              <a:gd name="adj" fmla="val 48889"/>
            </a:avLst>
          </a:prstGeom>
          <a:solidFill>
            <a:srgbClr val="1E2761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108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🏛️ 系主任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611880"/>
            <a:ext cx="3291840" cy="411480"/>
          </a:xfrm>
          <a:prstGeom prst="roundRect">
            <a:avLst>
              <a:gd name="adj" fmla="val 48889"/>
            </a:avLst>
          </a:prstGeom>
          <a:solidFill>
            <a:srgbClr val="1E2761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6118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🛡️ 管理員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114800"/>
            <a:ext cx="3291840" cy="411480"/>
          </a:xfrm>
          <a:prstGeom prst="roundRect">
            <a:avLst>
              <a:gd name="adj" fmla="val 48889"/>
            </a:avLst>
          </a:prstGeom>
          <a:solidFill>
            <a:srgbClr val="1E2761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114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🎓 校友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617720"/>
            <a:ext cx="3291840" cy="411480"/>
          </a:xfrm>
          <a:prstGeom prst="roundRect">
            <a:avLst>
              <a:gd name="adj" fmla="val 48889"/>
            </a:avLst>
          </a:prstGeom>
          <a:solidFill>
            <a:srgbClr val="1E2761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617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👀 訪客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128016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校園學習中樞</a:t>
            </a:r>
            <a:endParaRPr lang="en-US" sz="5600" dirty="0"/>
          </a:p>
        </p:txBody>
      </p:sp>
      <p:sp>
        <p:nvSpPr>
          <p:cNvPr id="21" name="Text 19"/>
          <p:cNvSpPr/>
          <p:nvPr/>
        </p:nvSpPr>
        <p:spPr>
          <a:xfrm>
            <a:off x="5029200" y="21945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spc="600" kern="0" dirty="0">
                <a:solidFill>
                  <a:srgbClr val="CADC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Campus Learning OS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029200" y="30175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以 AI 為核心、8 個角色貫穿的智慧校園整合平台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29200" y="3657600"/>
            <a:ext cx="182880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38404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畢業專題口試 · 2026.05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0" y="5943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靜宜大學 資訊管理學系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為什麼做這個專題?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77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單一角色 APP 已經夠多 — 但整合 8 種校園角色、跨角色資料串連的整合 OS 還沒有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657600" cy="4206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7830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🧩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校園資訊散落各 APP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42900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課表用 TronClass、餐廳訂單在不同 LINE 群、社團公告靠 IG、借書靠校務系統 —— 一天要切 6 個 APP。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34840" y="1508760"/>
            <a:ext cx="3657600" cy="4206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34840" y="17830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🎭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709160" y="2788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角色定位太單一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09160" y="342900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現有校園 APP 多數只設計給「學生」一種角色,教師、系主任、社團幹部、校友只能用「同一個學生畫面」。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21040" y="1508760"/>
            <a:ext cx="3657600" cy="4206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21040" y="17830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🤖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8595360" y="2788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沒有真正介入工作流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595360" y="342900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多數系統的 AI 是「另開一個 chatbot」,真正的 AI 應該嵌入每一頁,讓動作可一鍵執行並跨角色串聯。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0" y="65836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 / 18  ·  校園學習中樞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系統設計三主軸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77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為核心 · 8 角色貫穿 · 資料跨角色串連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657600" cy="4572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7373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為核心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3172968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306324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Cloud Functions askCampusAssistant 串入每頁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355701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3447288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角色感知:不同身份不同快速問題 + 摘要卡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3941064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0432" y="3831336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「一鍵動作」按下去真正改 store,跨角色立刻看到結果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434840" y="1508760"/>
            <a:ext cx="3657600" cy="4572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63440" y="17373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5856D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663440" y="23774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 角色完整身份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800600" y="3172968"/>
            <a:ext cx="128016" cy="128016"/>
          </a:xfrm>
          <a:prstGeom prst="ellipse">
            <a:avLst/>
          </a:prstGeom>
          <a:solidFill>
            <a:srgbClr val="5856D6"/>
          </a:solidFill>
          <a:ln w="12700">
            <a:solidFill>
              <a:srgbClr val="5856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56632" y="306324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學生 / 教師 / 助教 / 社團幹部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00600" y="3557016"/>
            <a:ext cx="128016" cy="128016"/>
          </a:xfrm>
          <a:prstGeom prst="ellipse">
            <a:avLst/>
          </a:prstGeom>
          <a:solidFill>
            <a:srgbClr val="5856D6"/>
          </a:solidFill>
          <a:ln w="12700">
            <a:solidFill>
              <a:srgbClr val="5856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56632" y="3447288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系主任 / 系統管理員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00600" y="3941064"/>
            <a:ext cx="128016" cy="128016"/>
          </a:xfrm>
          <a:prstGeom prst="ellipse">
            <a:avLst/>
          </a:prstGeom>
          <a:solidFill>
            <a:srgbClr val="5856D6"/>
          </a:solidFill>
          <a:ln w="12700">
            <a:solidFill>
              <a:srgbClr val="5856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56632" y="3831336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校友 / 訪客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00600" y="4325112"/>
            <a:ext cx="128016" cy="128016"/>
          </a:xfrm>
          <a:prstGeom prst="ellipse">
            <a:avLst/>
          </a:prstGeom>
          <a:solidFill>
            <a:srgbClr val="5856D6"/>
          </a:solidFill>
          <a:ln w="12700">
            <a:solidFill>
              <a:srgbClr val="5856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56632" y="4215384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右上角「身份膠囊」一鍵切換,demo 不需登出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321040" y="1508760"/>
            <a:ext cx="3657600" cy="4572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549640" y="17373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4C75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8549640" y="23774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跨角色資料層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8686800" y="3172968"/>
            <a:ext cx="128016" cy="128016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42832" y="306324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demoStore + localStorage:統一資料源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686800" y="3557016"/>
            <a:ext cx="128016" cy="128016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42832" y="3447288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學生繳交作業 → 老師看到批改佇列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686800" y="3941064"/>
            <a:ext cx="128016" cy="128016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42832" y="3831336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老師發訊息 → 學生即時收到 (DM 雙向)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686800" y="4325112"/>
            <a:ext cx="128016" cy="128016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42832" y="4215384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社團幹部審申請 → 學生收到入社通知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686800" y="65836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 / 18  ·  校園學習中樞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 個角色 · 一鍵切換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77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localStorage demoRole · 右上膠囊隨時切換 · 整套 demo 不需 Firebase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7772400" cy="49377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/Users/miiduoa/Desktop/畢業專題/.claude/worktrees/priceless-pascal-1e2721/docs/demo-screenshots/01_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554480"/>
            <a:ext cx="7498080" cy="4251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5833872"/>
            <a:ext cx="7498080" cy="914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8521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截圖:/login 登入頁 8 角色卡 — 訪客的 nav 已自動隱藏「課表/學分試算」等學生專用功能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595360" y="1417320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05088" y="14173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👩‍🎓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162288" y="1417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學生 王小明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M11302001 · 資管三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595360" y="2020824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05088" y="202082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🧑‍🏫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162288" y="202082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教師 王大明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資料結構 (CS301) 授課教師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595360" y="2624328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05088" y="262432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🧑‍💻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9162288" y="26243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助教 林助教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資管碩二 · CS301 助教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595360" y="3227832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05088" y="322783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9162288" y="32278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社團幹部 陳社長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程式設計社社長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595360" y="3831336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705088" y="383133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🏛️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9162288" y="383133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系主任 黃主任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資管系 · 公告審核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595360" y="4434840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705088" y="44348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9162288" y="4434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系統管理員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電算中心 · 使用者管理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8595360" y="5038344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705088" y="503834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🎓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9162288" y="503834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校友 張學長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109 屆 · 唯讀身份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8595360" y="5641848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705088" y="564184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👀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9162288" y="56418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訪客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未登入 · 公開資訊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8686800" y="65836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 / 18  ·  校園學習中樞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5856D6"/>
          </a:solidFill>
          <a:ln w="12700">
            <a:solidFill>
              <a:srgbClr val="5856D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學生視角(主軸)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77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命令列 + 校園 OS slot cards + 課表 + 成績全部能用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657600" cy="4206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/Users/miiduoa/Desktop/畢業專題/.claude/worktrees/priceless-pascal-1e2721/docs/demo-screenshots/10_student_tod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645920"/>
            <a:ext cx="3383280" cy="35204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5193792"/>
            <a:ext cx="3383280" cy="914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212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Today: AI 命令列 + Slot cards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89120" y="1508760"/>
            <a:ext cx="3657600" cy="4206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/Users/miiduoa/Desktop/畢業專題/.claude/worktrees/priceless-pascal-1e2721/docs/demo-screenshots/11_student_timetabl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26280" y="1645920"/>
            <a:ext cx="3383280" cy="35204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26280" y="5193792"/>
            <a:ext cx="3383280" cy="914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26280" y="5212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課表:周視圖 + 點堂進詳情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229600" y="1508760"/>
            <a:ext cx="3657600" cy="4206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2" descr="/Users/miiduoa/Desktop/畢業專題/.claude/worktrees/priceless-pascal-1e2721/docs/demo-screenshots/16_student_grade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366760" y="1645920"/>
            <a:ext cx="3383280" cy="35204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366760" y="5193792"/>
            <a:ext cx="3383280" cy="914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366760" y="5212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成績:已修課程 + GPA 趨勢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48640" y="5852160"/>
            <a:ext cx="11064240" cy="411480"/>
          </a:xfrm>
          <a:prstGeom prst="roundRect">
            <a:avLst>
              <a:gd name="adj" fmla="val 1777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731520" y="585216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學生身份能做的事:選課試算 · 訂餐 · 借書 · 加入社團 · 私訊老師 / 同學 · 收成績通知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686800" y="65836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 / 18  ·  校園學習中樞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學分試算 — 學生專屬功能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77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修課歷史 / 畢業進度 / 下學期選課模擬 + 衝堂偵測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777240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/Users/miiduoa/Desktop/畢業專題/.claude/worktrees/priceless-pascal-1e2721/docs/demo-screenshots/14_student_credit_plann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554480"/>
            <a:ext cx="7498080" cy="41605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503920" y="1417320"/>
            <a:ext cx="3200400" cy="4434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0" y="1554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🎯 功能要點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686800" y="2121408"/>
            <a:ext cx="128016" cy="128016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42832" y="2011680"/>
            <a:ext cx="2670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 大類學分(必修/選修/通識/體育/其他)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686800" y="2532888"/>
            <a:ext cx="128016" cy="128016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42832" y="2423160"/>
            <a:ext cx="2670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即時計算「畢業還差幾學分」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686800" y="2944368"/>
            <a:ext cx="128016" cy="128016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942832" y="2834640"/>
            <a:ext cx="2670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勾下學期想選的課,自動算學分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686800" y="3355848"/>
            <a:ext cx="128016" cy="128016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942832" y="3246120"/>
            <a:ext cx="2670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同時段衝堂自動標紅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686800" y="3767328"/>
            <a:ext cx="128016" cy="128016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942832" y="3657600"/>
            <a:ext cx="2670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結合 AI 助理「下學期選什麼?」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" y="5989320"/>
            <a:ext cx="11064240" cy="502920"/>
          </a:xfrm>
          <a:prstGeom prst="roundRect">
            <a:avLst>
              <a:gd name="adj" fmla="val 18182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1520" y="598932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⚠️ 權限管控:此功能只有「學生」與「社團幹部」(學生身份) 看得到 — 其他角色 nav 不顯示,直接訪問 URL 也會被攔截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學分試算 — 非學生身份直接被攔截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77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同一個 URL,三個身份三種結果;對應角色都會被導向自己該去的頁面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657600" cy="4206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/Users/miiduoa/Desktop/畢業專題/.claude/worktrees/priceless-pascal-1e2721/docs/demo-screenshots/21_teacher_credit_block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645920"/>
            <a:ext cx="3383280" cy="3931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14400" y="5806440"/>
            <a:ext cx="292608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5806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教師 王大明 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前往教師工作台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89120" y="1508760"/>
            <a:ext cx="3657600" cy="4206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/Users/miiduoa/Desktop/畢業專題/.claude/worktrees/priceless-pascal-1e2721/docs/demo-screenshots/41_dept_credit_block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26280" y="1645920"/>
            <a:ext cx="3383280" cy="39319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754880" y="5806440"/>
            <a:ext cx="292608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754880" y="5806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系主任 黃主任 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前往管理後台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229600" y="1508760"/>
            <a:ext cx="3657600" cy="4206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2" descr="/Users/miiduoa/Desktop/畢業專題/.claude/worktrees/priceless-pascal-1e2721/docs/demo-screenshots/51_alumni_credit_block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366760" y="1645920"/>
            <a:ext cx="3383280" cy="393192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595360" y="5806440"/>
            <a:ext cx="292608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595360" y="5806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校友 張學長 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回首頁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8686800" y="65836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 / 18  ·  校園學習中樞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5856D6"/>
          </a:solidFill>
          <a:ln w="12700">
            <a:solidFill>
              <a:srgbClr val="5856D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訊息中心 — 重做為三合一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77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私訊 (DM) + 系統通知 + 好友 — 三個 tab,真正能加好友、發私訊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7772400" cy="49377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/Users/miiduoa/Desktop/畢業專題/.claude/worktrees/priceless-pascal-1e2721/docs/demo-screenshots/12_student_messages_d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554480"/>
            <a:ext cx="7498080" cy="4251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5833872"/>
            <a:ext cx="7498080" cy="914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8521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截圖:學生訊息中心 — 左側對話列表 + 右側待開啟的私訊面板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503920" y="1417320"/>
            <a:ext cx="3200400" cy="4937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0" y="1554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💬 新訊息中心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686800" y="2121408"/>
            <a:ext cx="128016" cy="128016"/>
          </a:xfrm>
          <a:prstGeom prst="ellipse">
            <a:avLst/>
          </a:prstGeom>
          <a:solidFill>
            <a:srgbClr val="5856D6"/>
          </a:solidFill>
          <a:ln w="12700">
            <a:solidFill>
              <a:srgbClr val="5856D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42832" y="2011680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私訊 tab:對話列表 + 雙向氣泡聊天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686800" y="2505456"/>
            <a:ext cx="128016" cy="128016"/>
          </a:xfrm>
          <a:prstGeom prst="ellipse">
            <a:avLst/>
          </a:prstGeom>
          <a:solidFill>
            <a:srgbClr val="5856D6"/>
          </a:solidFill>
          <a:ln w="12700">
            <a:solidFill>
              <a:srgbClr val="5856D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942832" y="2395728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⌘+Enter 送出 · 未讀計數 · 自動標已讀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686800" y="2889504"/>
            <a:ext cx="128016" cy="128016"/>
          </a:xfrm>
          <a:prstGeom prst="ellipse">
            <a:avLst/>
          </a:prstGeom>
          <a:solidFill>
            <a:srgbClr val="5856D6"/>
          </a:solidFill>
          <a:ln w="12700">
            <a:solidFill>
              <a:srgbClr val="5856D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942832" y="2779776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系統通知 tab:課程系統 / 公告 / 提醒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686800" y="3273552"/>
            <a:ext cx="128016" cy="128016"/>
          </a:xfrm>
          <a:prstGeom prst="ellipse">
            <a:avLst/>
          </a:prstGeom>
          <a:solidFill>
            <a:srgbClr val="5856D6"/>
          </a:solidFill>
          <a:ln w="12700">
            <a:solidFill>
              <a:srgbClr val="5856D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942832" y="3163824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好友 tab:搜尋姓名/學號/系所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686800" y="3657600"/>
            <a:ext cx="128016" cy="128016"/>
          </a:xfrm>
          <a:prstGeom prst="ellipse">
            <a:avLst/>
          </a:prstGeom>
          <a:solidFill>
            <a:srgbClr val="5856D6"/>
          </a:solidFill>
          <a:ln w="12700">
            <a:solidFill>
              <a:srgbClr val="5856D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942832" y="3547872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送出邀請 → 對方接受 → 開始私訊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686800" y="4041648"/>
            <a:ext cx="128016" cy="128016"/>
          </a:xfrm>
          <a:prstGeom prst="ellipse">
            <a:avLst/>
          </a:prstGeom>
          <a:solidFill>
            <a:srgbClr val="5856D6"/>
          </a:solidFill>
          <a:ln w="12700">
            <a:solidFill>
              <a:srgbClr val="5856D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942832" y="3931920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預設種 4 條對話,demo 一開就有內容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686800" y="65836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 / 18  ·  校園學習中樞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5856D6"/>
          </a:solidFill>
          <a:ln w="12700">
            <a:solidFill>
              <a:srgbClr val="5856D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跨角色資料貫穿 ① — 學生私訊王老師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77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左:學生視角的私訊對話;右:同條 thread 切到教師身份立刻看到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577840" cy="49377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/Users/miiduoa/Desktop/畢業專題/.claude/worktrees/priceless-pascal-1e2721/docs/demo-screenshots/70_dm_student_view_teacher_threa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554480"/>
            <a:ext cx="5303520" cy="4251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5833872"/>
            <a:ext cx="5303520" cy="914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8521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👩‍🎓 學生 王小明 → 王大明 老師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63640" y="1417320"/>
            <a:ext cx="5486400" cy="49377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/Users/miiduoa/Desktop/畢業專題/.claude/worktrees/priceless-pascal-1e2721/docs/demo-screenshots/73_dm_teacher_view_student_threa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0800" y="1554480"/>
            <a:ext cx="5212080" cy="425196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400800" y="5833872"/>
            <a:ext cx="5212080" cy="914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00800" y="58521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🧑‍🏫 教師 王大明 開同條對話(收件方)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686800" y="65836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 / 18  ·  校園學習中樞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5856D6"/>
          </a:solidFill>
          <a:ln w="12700">
            <a:solidFill>
              <a:srgbClr val="5856D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跨角色資料貫穿 ② — 老師回覆後切回學生,即時看到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77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同一個 localStorage thread · ID = sort([uid_a, uid_b]).join("__") · 雙端共用同一份資料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49377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/Users/miiduoa/Desktop/畢業專題/.claude/worktrees/priceless-pascal-1e2721/docs/demo-screenshots/74_dm_teacher_repli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554480"/>
            <a:ext cx="10789920" cy="4251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5833872"/>
            <a:ext cx="10789920" cy="914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8521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🧑‍🏫 教師回覆「可以,下週三 15:00 工程館 308...」— 切回學生身份立即在訊息圖示看到未讀徽章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686800" y="65836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/ 18  ·  校園學習中樞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5856D6"/>
          </a:solidFill>
          <a:ln w="12700">
            <a:solidFill>
              <a:srgbClr val="5856D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好友邀請:搜尋 → 邀請 → 接受 → 互傳私訊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77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搜尋「張」即時列出 stu-005 張志偉 等候選人;一鍵發邀請,對方在好友 tab 看到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7772400" cy="49377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/Users/miiduoa/Desktop/畢業專題/.claude/worktrees/priceless-pascal-1e2721/docs/demo-screenshots/76_friends_searc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554480"/>
            <a:ext cx="7498080" cy="4251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5833872"/>
            <a:ext cx="7498080" cy="914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8521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截圖:學生在好友 tab 搜尋「張」,結果列出包含「張」字的所有候選人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503920" y="1417320"/>
            <a:ext cx="3200400" cy="4937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0" y="1554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🔄 完整好友流程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686800" y="2121408"/>
            <a:ext cx="128016" cy="128016"/>
          </a:xfrm>
          <a:prstGeom prst="ellipse">
            <a:avLst/>
          </a:prstGeom>
          <a:solidFill>
            <a:srgbClr val="5856D6"/>
          </a:solidFill>
          <a:ln w="12700">
            <a:solidFill>
              <a:srgbClr val="5856D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42832" y="2011680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搜尋:姓名 / 學號 / 系所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686800" y="2505456"/>
            <a:ext cx="128016" cy="128016"/>
          </a:xfrm>
          <a:prstGeom prst="ellipse">
            <a:avLst/>
          </a:prstGeom>
          <a:solidFill>
            <a:srgbClr val="5856D6"/>
          </a:solidFill>
          <a:ln w="12700">
            <a:solidFill>
              <a:srgbClr val="5856D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942832" y="2395728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點「+ 加好友」送出邀請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686800" y="2889504"/>
            <a:ext cx="128016" cy="128016"/>
          </a:xfrm>
          <a:prstGeom prst="ellipse">
            <a:avLst/>
          </a:prstGeom>
          <a:solidFill>
            <a:srgbClr val="5856D6"/>
          </a:solidFill>
          <a:ln w="12700">
            <a:solidFill>
              <a:srgbClr val="5856D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942832" y="2779776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對方在「📩 待回覆邀請」看到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686800" y="3273552"/>
            <a:ext cx="128016" cy="128016"/>
          </a:xfrm>
          <a:prstGeom prst="ellipse">
            <a:avLst/>
          </a:prstGeom>
          <a:solidFill>
            <a:srgbClr val="5856D6"/>
          </a:solidFill>
          <a:ln w="12700">
            <a:solidFill>
              <a:srgbClr val="5856D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942832" y="3163824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 對方接受 → 雙方互為好友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686800" y="3657600"/>
            <a:ext cx="128016" cy="128016"/>
          </a:xfrm>
          <a:prstGeom prst="ellipse">
            <a:avLst/>
          </a:prstGeom>
          <a:solidFill>
            <a:srgbClr val="5856D6"/>
          </a:solidFill>
          <a:ln w="12700">
            <a:solidFill>
              <a:srgbClr val="5856D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942832" y="3547872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5. 開新私訊 thread · 即時雙向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686800" y="4041648"/>
            <a:ext cx="128016" cy="128016"/>
          </a:xfrm>
          <a:prstGeom prst="ellipse">
            <a:avLst/>
          </a:prstGeom>
          <a:solidFill>
            <a:srgbClr val="5856D6"/>
          </a:solidFill>
          <a:ln w="12700">
            <a:solidFill>
              <a:srgbClr val="5856D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942832" y="3931920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6. 移除好友 / 拒絕邀請 都支援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686800" y="65836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 / 18  ·  校園學習中樞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助理 — 角色感知不一樣的快速問題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77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同一個 AI 入口,進去後看到的對話、摘要卡、一鍵動作全部因角色而異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577840" cy="49377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/Users/miiduoa/Desktop/畢業專題/.claude/worktrees/priceless-pascal-1e2721/docs/demo-screenshots/77_student_ai_actio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554480"/>
            <a:ext cx="5303520" cy="4251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5833872"/>
            <a:ext cx="5303520" cy="914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8521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👩‍🎓 學生看到:選課 / 學分 / 借書 / 一鍵續借快到期書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63640" y="1417320"/>
            <a:ext cx="5486400" cy="49377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/Users/miiduoa/Desktop/畢業專題/.claude/worktrees/priceless-pascal-1e2721/docs/demo-screenshots/78_teacher_ai_action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0800" y="1554480"/>
            <a:ext cx="5212080" cy="425196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400800" y="5833872"/>
            <a:ext cx="5212080" cy="914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00800" y="58521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🧑‍🏫 教師看到:出題 / 班級分析 / AI 起草評語 / 批量提醒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686800" y="65836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 / 18  ·  校園學習中樞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AF52DE"/>
          </a:solidFill>
          <a:ln w="12700">
            <a:solidFill>
              <a:srgbClr val="AF52D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教師工作台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77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教材 / 測驗 / 題庫 / Rubric / 點名 / 成績冊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7772400" cy="49377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/Users/miiduoa/Desktop/畢業專題/.claude/worktrees/priceless-pascal-1e2721/docs/demo-screenshots/22_teacher_cours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554480"/>
            <a:ext cx="7498080" cy="4251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5833872"/>
            <a:ext cx="7498080" cy="914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8521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/teacher/course/c1 — 教師端課程主控台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503920" y="1417320"/>
            <a:ext cx="3200400" cy="4937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0" y="1554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🧑‍🏫 教師可動作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686800" y="2121408"/>
            <a:ext cx="128016" cy="128016"/>
          </a:xfrm>
          <a:prstGeom prst="ellipse">
            <a:avLst/>
          </a:prstGeom>
          <a:solidFill>
            <a:srgbClr val="AF52DE"/>
          </a:solidFill>
          <a:ln w="12700">
            <a:solidFill>
              <a:srgbClr val="AF52D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42832" y="2011680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建立新作業/測驗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686800" y="2505456"/>
            <a:ext cx="128016" cy="128016"/>
          </a:xfrm>
          <a:prstGeom prst="ellipse">
            <a:avLst/>
          </a:prstGeom>
          <a:solidFill>
            <a:srgbClr val="AF52DE"/>
          </a:solidFill>
          <a:ln w="12700">
            <a:solidFill>
              <a:srgbClr val="AF52D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942832" y="2395728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開始 / 結束點名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686800" y="2889504"/>
            <a:ext cx="128016" cy="128016"/>
          </a:xfrm>
          <a:prstGeom prst="ellipse">
            <a:avLst/>
          </a:prstGeom>
          <a:solidFill>
            <a:srgbClr val="AF52DE"/>
          </a:solidFill>
          <a:ln w="12700">
            <a:solidFill>
              <a:srgbClr val="AF52D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942832" y="2779776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批改+發布成績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686800" y="3273552"/>
            <a:ext cx="128016" cy="128016"/>
          </a:xfrm>
          <a:prstGeom prst="ellipse">
            <a:avLst/>
          </a:prstGeom>
          <a:solidFill>
            <a:srgbClr val="AF52DE"/>
          </a:solidFill>
          <a:ln w="12700">
            <a:solidFill>
              <a:srgbClr val="AF52D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942832" y="3163824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管理教材模組 / 題庫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686800" y="3657600"/>
            <a:ext cx="128016" cy="128016"/>
          </a:xfrm>
          <a:prstGeom prst="ellipse">
            <a:avLst/>
          </a:prstGeom>
          <a:solidFill>
            <a:srgbClr val="AF52DE"/>
          </a:solidFill>
          <a:ln w="12700">
            <a:solidFill>
              <a:srgbClr val="AF52D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942832" y="3547872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請假審核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686800" y="4041648"/>
            <a:ext cx="128016" cy="128016"/>
          </a:xfrm>
          <a:prstGeom prst="ellipse">
            <a:avLst/>
          </a:prstGeom>
          <a:solidFill>
            <a:srgbClr val="AF52DE"/>
          </a:solidFill>
          <a:ln w="12700">
            <a:solidFill>
              <a:srgbClr val="AF52D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942832" y="3931920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提交公告(系主任審核)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686800" y="65836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 / 18  ·  校園學習中樞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助教 TA &amp; 社團幹部 — 都是有限度的權限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77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 進教師端但部分功能灰掉;社團幹部進學生課程頁鎖繳交,但有自己社團的管理區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577840" cy="49377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/Users/miiduoa/Desktop/畢業專題/.claude/worktrees/priceless-pascal-1e2721/docs/demo-screenshots/30_ta_cours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554480"/>
            <a:ext cx="5303520" cy="4251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5833872"/>
            <a:ext cx="5303520" cy="914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8521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🧑‍💻 TA 進教師端:紫色 banner + 教材/題庫變灰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63640" y="1417320"/>
            <a:ext cx="5486400" cy="49377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/Users/miiduoa/Desktop/畢業專題/.claude/worktrees/priceless-pascal-1e2721/docs/demo-screenshots/81_club_officer_course_lock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0800" y="1554480"/>
            <a:ext cx="5212080" cy="425196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400800" y="5833872"/>
            <a:ext cx="5212080" cy="914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00800" y="58521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社團幹部進 /course/c1:綠 banner + 繳交鈕鎖住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686800" y="65836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14 / 18  ·  校園學習中樞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系主任 / 管理員後台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77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公告審核佇列 · 系所統計 · 使用者管理 · 系統設定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577840" cy="49377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/Users/miiduoa/Desktop/畢業專題/.claude/worktrees/priceless-pascal-1e2721/docs/demo-screenshots/79_dept_admin_detai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554480"/>
            <a:ext cx="5303520" cy="4251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5833872"/>
            <a:ext cx="5303520" cy="914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8521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🏛️ 系主任 — 公告審核佇列 + 系所教師統計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63640" y="1417320"/>
            <a:ext cx="5486400" cy="49377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/Users/miiduoa/Desktop/畢業專題/.claude/worktrees/priceless-pascal-1e2721/docs/demo-screenshots/42_admin_admi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0800" y="1554480"/>
            <a:ext cx="5212080" cy="425196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400800" y="5833872"/>
            <a:ext cx="5212080" cy="914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00800" y="58521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🛡️ 系統管理員 — 比系主任多出使用者管理 / 系統設定 / 日誌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686800" y="65836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 / 18  ·  校園學習中樞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8E8E93"/>
          </a:solidFill>
          <a:ln w="12700">
            <a:solidFill>
              <a:srgbClr val="8E8E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校友 / 訪客 — 唯讀身份完整考慮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77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校友首頁灰 banner、社團「加入」按鈕點下去顯示 toast、訊息私訊鎖、學分試算攔截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577840" cy="49377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/Users/miiduoa/Desktop/畢業專題/.claude/worktrees/priceless-pascal-1e2721/docs/demo-screenshots/50_alumni_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554480"/>
            <a:ext cx="5303520" cy="4251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5833872"/>
            <a:ext cx="5303520" cy="914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8521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🎓 校友:首頁灰色 banner「校友身份僅可瀏覽」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63640" y="1417320"/>
            <a:ext cx="5486400" cy="49377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/Users/miiduoa/Desktop/畢業專題/.claude/worktrees/priceless-pascal-1e2721/docs/demo-screenshots/60_guest_hom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0800" y="1554480"/>
            <a:ext cx="5212080" cy="425196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400800" y="5833872"/>
            <a:ext cx="5212080" cy="914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00800" y="58521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👀 訪客:Marketing view,只看公告 / 地圖 / 公車 / 餐廳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686800" y="65836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16 / 18  ·  校園學習中樞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技術架構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77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前端:Next.js 16 + React 19 + TypeScript 嚴格模式 · 後端:Firebase / Cloud Functions + Supabase LMS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657600" cy="4572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783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📱 前端 / UI 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2624328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51460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Next.js 16 (App Router) + React 19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00837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2898648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TypeScript strict mode — 全綠通過 tsc --noEmit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392424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282696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 角色 demoRole + getCapabilities() 權限矩陣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776472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3666744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SiteShell 動態 nav (依角色顯示不同選單)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34840" y="1508760"/>
            <a:ext cx="3657600" cy="4572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09160" y="1783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856D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🗂️ 應用 / 狀態層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800600" y="2624328"/>
            <a:ext cx="128016" cy="128016"/>
          </a:xfrm>
          <a:prstGeom prst="ellipse">
            <a:avLst/>
          </a:prstGeom>
          <a:solidFill>
            <a:srgbClr val="5856D6"/>
          </a:solidFill>
          <a:ln w="12700">
            <a:solidFill>
              <a:srgbClr val="5856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56632" y="251460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demoStore (localStorage v1) — 17 條跨角色動作鏈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0600" y="3008376"/>
            <a:ext cx="128016" cy="128016"/>
          </a:xfrm>
          <a:prstGeom prst="ellipse">
            <a:avLst/>
          </a:prstGeom>
          <a:solidFill>
            <a:srgbClr val="5856D6"/>
          </a:solidFill>
          <a:ln w="12700">
            <a:solidFill>
              <a:srgbClr val="5856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56632" y="2898648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私訊系統:friendships + directThreads + directMessages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0600" y="3392424"/>
            <a:ext cx="128016" cy="128016"/>
          </a:xfrm>
          <a:prstGeom prst="ellipse">
            <a:avLst/>
          </a:prstGeom>
          <a:solidFill>
            <a:srgbClr val="5856D6"/>
          </a:solidFill>
          <a:ln w="12700">
            <a:solidFill>
              <a:srgbClr val="5856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56632" y="3282696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訊息廣播:dynamicMessages 依 recipientRoles 路由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00600" y="3776472"/>
            <a:ext cx="128016" cy="128016"/>
          </a:xfrm>
          <a:prstGeom prst="ellipse">
            <a:avLst/>
          </a:prstGeom>
          <a:solidFill>
            <a:srgbClr val="5856D6"/>
          </a:solidFill>
          <a:ln w="12700">
            <a:solidFill>
              <a:srgbClr val="5856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56632" y="3666744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CustomEvent + storage event 跨頁同步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321040" y="1508760"/>
            <a:ext cx="3657600" cy="4572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595360" y="1783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4C75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🤖 後端 / AI 層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686800" y="2624328"/>
            <a:ext cx="128016" cy="128016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42832" y="251460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Firebase Auth + Firestore (TronClass / 校園資料)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686800" y="3008376"/>
            <a:ext cx="128016" cy="128016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42832" y="2898648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Cloud Functions askCampusAssistant (AI Agent + 工具呼叫)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686800" y="3392424"/>
            <a:ext cx="128016" cy="128016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42832" y="3282696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Supabase LMS v2 (測驗 / 題庫 / Rubric)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686800" y="3776472"/>
            <a:ext cx="128016" cy="128016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42832" y="3666744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前端 fallback:Firebase 沒設定也能跑完整 demo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686800" y="65836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17 / 18  ·  校園學習中樞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總結與展望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Campus Learning OS — 從「8 個 APP」走到「1 個 OS」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394960" cy="4114800"/>
          </a:xfrm>
          <a:prstGeom prst="roundRect">
            <a:avLst>
              <a:gd name="adj" fmla="val 311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94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已完成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2807208"/>
            <a:ext cx="128016" cy="128016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2697480"/>
            <a:ext cx="4773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 角色完整切換 + 角色感知 nav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3191256"/>
            <a:ext cx="128016" cy="128016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3081528"/>
            <a:ext cx="4773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訊息中心:私訊 + 好友 + 系統通知 三合一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3575304"/>
            <a:ext cx="128016" cy="128016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465576"/>
            <a:ext cx="4773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學分試算 student-only 嚴格權限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3959352"/>
            <a:ext cx="128016" cy="128016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49624"/>
            <a:ext cx="4773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助理:角色感知 + 17 條一鍵動作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4343400"/>
            <a:ext cx="128016" cy="128016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233672"/>
            <a:ext cx="4773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17 條跨角色資料鏈(作業→批改→成績→公告→社團…)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4727448"/>
            <a:ext cx="128016" cy="128016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0432" y="4617720"/>
            <a:ext cx="4773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完整 demo fallback:不開 Firebase 也能跑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14400" y="5111496"/>
            <a:ext cx="128016" cy="128016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70432" y="5001768"/>
            <a:ext cx="4773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TypeScript strict + Next.js 16 build 通過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63640" y="2103120"/>
            <a:ext cx="5349240" cy="4114800"/>
          </a:xfrm>
          <a:prstGeom prst="roundRect">
            <a:avLst>
              <a:gd name="adj" fmla="val 311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21945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B5F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🚀 未來展望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537960" y="2807208"/>
            <a:ext cx="128016" cy="128016"/>
          </a:xfrm>
          <a:prstGeom prst="ellipse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93992" y="2697480"/>
            <a:ext cx="4727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接靜宜 e 校園 SSO,正式上線 PU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37960" y="3191256"/>
            <a:ext cx="128016" cy="128016"/>
          </a:xfrm>
          <a:prstGeom prst="ellipse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93992" y="3081528"/>
            <a:ext cx="4727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私訊接 Firestore realtime,跨裝置即時同步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537960" y="3575304"/>
            <a:ext cx="128016" cy="128016"/>
          </a:xfrm>
          <a:prstGeom prst="ellipse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93992" y="3465576"/>
            <a:ext cx="4727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群組聊天 + 課程討論串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537960" y="3959352"/>
            <a:ext cx="128016" cy="128016"/>
          </a:xfrm>
          <a:prstGeom prst="ellipse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93992" y="3849624"/>
            <a:ext cx="4727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Agent Tools:訂餐 / 借書 / 請假 可直接執行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537960" y="4343400"/>
            <a:ext cx="128016" cy="128016"/>
          </a:xfrm>
          <a:prstGeom prst="ellipse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93992" y="4233672"/>
            <a:ext cx="4727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社團活動報名整合 Google Calendar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537960" y="4727448"/>
            <a:ext cx="128016" cy="128016"/>
          </a:xfrm>
          <a:prstGeom prst="ellipse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93992" y="4617720"/>
            <a:ext cx="4727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校友會就業媒合 + 學長姊履歷指導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CADC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校園學習中樞 · 畢業專題 · 2026.05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校園學習中樞 — AI 多角色校園資訊整合系統</dc:title>
  <dc:subject>PptxGenJS Presentation</dc:subject>
  <dc:creator>Campus Learning OS Team</dc:creator>
  <cp:lastModifiedBy>Campus Learning OS Team</cp:lastModifiedBy>
  <cp:revision>1</cp:revision>
  <dcterms:created xsi:type="dcterms:W3CDTF">2026-05-18T16:25:40Z</dcterms:created>
  <dcterms:modified xsi:type="dcterms:W3CDTF">2026-05-18T16:25:40Z</dcterms:modified>
</cp:coreProperties>
</file>