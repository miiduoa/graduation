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6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 AI Agent · 校園代理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讓 AI 真的代你完成跨服務、跨角色的所有事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383280"/>
            <a:ext cx="731520" cy="5486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9319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9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Agent intents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39319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292608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段 Autonomy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0" y="39319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512064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條 Guardrail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0" y="39319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14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731520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跨角色事件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509760" y="39319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8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950976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角色 (Web)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組員：周攸晨 · 顧晉瑋 · 楊世堅 · 吳容陞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6172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口試日 2026-05-23   ·   指導老師：____________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1704320" y="0"/>
            <a:ext cx="457200" cy="68580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簡報目錄（10 段 / 25 張）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737360" y="16642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問題與機會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校園資訊散落 + chatbot 無法行動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155448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6916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406640" y="16642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Agent 是什麼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0664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vs ChatGPT 5 大差異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56032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2697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737360" y="26700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Plan → Execute → Verify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3063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Agent 3 段生命週期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256032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2697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406640" y="26700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9 個 Agent intents 矩陣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06640" y="3063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 角色都有 agent 任務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56616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37033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737360" y="36758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Autonomy Mode 3 段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737360" y="4069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使用者可選詢問或全自動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356616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37960" y="37033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406640" y="36758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 cockpit + Agent 整合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06640" y="4069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每個角色都有 AgentBanner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457200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8680" y="47091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07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1737360" y="46817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Agent Console deep dive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737360" y="5074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看 AI 在做什麼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0" y="457200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37960" y="47091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08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7406640" y="46817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跨角色聯動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406640" y="5074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RoleEventBus + Agent 整合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1520" y="557784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68680" y="57150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09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1737360" y="56875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Guardrail + 信任卡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737360" y="6080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透明可審計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0" y="557784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537960" y="57150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10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7406640" y="56875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技術棧 / Roadmap / Q&amp;A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406640" y="6080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 AI Agent 校園代理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 / 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為什麼校園需要 AI Agent，不是 chatbot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576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365760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#1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20240" y="2468880"/>
            <a:ext cx="1097280" cy="10972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2468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⏱</a:t>
            </a:r>
            <a:endParaRPr lang="en-US" sz="336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找資訊太花時間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42976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學生平均花 18 分鐘 / 天 在 5 個 App 間找資訊。AI 應該代你找。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5394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18 min/d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434840" y="1691640"/>
            <a:ext cx="36576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34840" y="1691640"/>
            <a:ext cx="365760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1783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#2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0" y="2468880"/>
            <a:ext cx="1097280" cy="10972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2468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</a:t>
            </a:r>
            <a:endParaRPr lang="en-US" sz="3360" dirty="0"/>
          </a:p>
        </p:txBody>
      </p:sp>
      <p:sp>
        <p:nvSpPr>
          <p:cNvPr id="17" name="Text 15"/>
          <p:cNvSpPr/>
          <p:nvPr/>
        </p:nvSpPr>
        <p:spPr>
          <a:xfrm>
            <a:off x="461772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chatbot 無法行動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09160" y="42976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ChatGPT 知道答案但無法代你下單、繳作業、聯絡老師。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17720" y="5394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 actions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229600" y="1691640"/>
            <a:ext cx="36576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0" y="1691640"/>
            <a:ext cx="365760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1783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#3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509760" y="2468880"/>
            <a:ext cx="1097280" cy="10972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0" y="2468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🔌</a:t>
            </a:r>
            <a:endParaRPr lang="en-US" sz="3360" dirty="0"/>
          </a:p>
        </p:txBody>
      </p:sp>
      <p:sp>
        <p:nvSpPr>
          <p:cNvPr id="25" name="Text 23"/>
          <p:cNvSpPr/>
          <p:nvPr/>
        </p:nvSpPr>
        <p:spPr>
          <a:xfrm>
            <a:off x="841248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角色之間操作斷裂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503920" y="42976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老師發提醒、學生繳交、餐廳出餐 — 每個動作都要人工跨工具。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12480" y="5394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5+ tools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解法：AI Agent 真的「代理」你完成這些事，而不是給你建議讓你自己做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 AI Agent 校園代理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 / 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Agent 是什麼｜跟 chatbot 5 大差異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658600" cy="4572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面向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16916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傳統 LLM Chatbot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78040" y="1691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8B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我們的 AI 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1658600" cy="777240"/>
          </a:xfrm>
          <a:prstGeom prst="rect">
            <a:avLst/>
          </a:prstGeom>
          <a:solidFill>
            <a:srgbClr val="1E2761"/>
          </a:solidFill>
          <a:ln w="6350">
            <a:solidFill>
              <a:srgbClr val="0E17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48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生命週期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34640" y="214884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一問一答，講完就忘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69480" y="21488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Plan → Execute → Verify 三段，全程可追溯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11658600" cy="777240"/>
          </a:xfrm>
          <a:prstGeom prst="rect">
            <a:avLst/>
          </a:prstGeom>
          <a:solidFill>
            <a:srgbClr val="0E1742"/>
          </a:solidFill>
          <a:ln w="6350">
            <a:solidFill>
              <a:srgbClr val="0E17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718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主動性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34640" y="297180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被動回答，使用者問才動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69480" y="29718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Background scan 主動 plan、主動推給使用者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11658600" cy="777240"/>
          </a:xfrm>
          <a:prstGeom prst="rect">
            <a:avLst/>
          </a:prstGeom>
          <a:solidFill>
            <a:srgbClr val="1E2761"/>
          </a:solidFill>
          <a:ln w="6350">
            <a:solidFill>
              <a:srgbClr val="0E17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7947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跨服務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34640" y="37947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69480" y="37947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可代你跑 TronClass / 餐廳 / 公車 / 校園系統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11658600" cy="777240"/>
          </a:xfrm>
          <a:prstGeom prst="rect">
            <a:avLst/>
          </a:prstGeom>
          <a:solidFill>
            <a:srgbClr val="0E1742"/>
          </a:solidFill>
          <a:ln w="6350">
            <a:solidFill>
              <a:srgbClr val="0E17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617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跨角色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34640" y="461772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69480" y="46177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代學生寄訊息給老師、代老師回覆全班、代主任廣播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440680"/>
            <a:ext cx="11658600" cy="777240"/>
          </a:xfrm>
          <a:prstGeom prst="rect">
            <a:avLst/>
          </a:prstGeom>
          <a:solidFill>
            <a:srgbClr val="1E2761"/>
          </a:solidFill>
          <a:ln w="6350">
            <a:solidFill>
              <a:srgbClr val="0E17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5440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風險控管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834640" y="544068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通常無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69480" y="54406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 條 Guardrail + Autonomy Mode + dynamicQuietHours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 / 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LIFE CYCLE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Agent 三段生命週期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383280" cy="3657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91640"/>
            <a:ext cx="3383280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PLAN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規劃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把 intent 變成 ActionPlan：多步驟、risk、信心、預估時間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4800600"/>
            <a:ext cx="3017520" cy="365760"/>
          </a:xfrm>
          <a:prstGeom prst="rect">
            <a:avLst/>
          </a:prstGeom>
          <a:solidFill>
            <a:srgbClr val="0E1742"/>
          </a:solidFill>
          <a:ln w="12700">
            <a:solidFill>
              <a:srgbClr val="0E17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846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D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aiAgentRuntime.plan(intent, role, ctx)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31920" y="3520440"/>
            <a:ext cx="411480" cy="0"/>
          </a:xfrm>
          <a:prstGeom prst="line">
            <a:avLst/>
          </a:prstGeom>
          <a:noFill/>
          <a:ln w="38100">
            <a:solidFill>
              <a:srgbClr val="FF8C4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89120" y="1691640"/>
            <a:ext cx="3383280" cy="36576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8C4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1691640"/>
            <a:ext cx="3383280" cy="5943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6916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EXECUTE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執行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63440" y="30632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逐 step 跑、可分段或一次跑完、每 step 寫 result + emit RoleEvent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4800600"/>
            <a:ext cx="3017520" cy="365760"/>
          </a:xfrm>
          <a:prstGeom prst="rect">
            <a:avLst/>
          </a:prstGeom>
          <a:solidFill>
            <a:srgbClr val="0E1742"/>
          </a:solidFill>
          <a:ln w="12700">
            <a:solidFill>
              <a:srgbClr val="0E17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4846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D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executeNextStep() / executeAll()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818120" y="3520440"/>
            <a:ext cx="411480" cy="0"/>
          </a:xfrm>
          <a:prstGeom prst="line">
            <a:avLst/>
          </a:prstGeom>
          <a:noFill/>
          <a:ln w="38100">
            <a:solidFill>
              <a:srgbClr val="FF8C4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75320" y="1691640"/>
            <a:ext cx="3383280" cy="3657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75320" y="1691640"/>
            <a:ext cx="338328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16916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VERIFY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5820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審計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549640" y="30632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自我審計：成功率 / 失敗原因 / 信心 / 建議補救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458200" y="4800600"/>
            <a:ext cx="3017520" cy="365760"/>
          </a:xfrm>
          <a:prstGeom prst="rect">
            <a:avLst/>
          </a:prstGeom>
          <a:solidFill>
            <a:srgbClr val="0E1742"/>
          </a:solidFill>
          <a:ln w="12700">
            <a:solidFill>
              <a:srgbClr val="0E17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0" y="4846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D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verify(plan)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5760720"/>
            <a:ext cx="11064240" cy="822960"/>
          </a:xfrm>
          <a:prstGeom prst="rect">
            <a:avLst/>
          </a:prstGeom>
          <a:solidFill>
            <a:srgbClr val="0E1742"/>
          </a:solidFill>
          <a:ln w="25400">
            <a:solidFill>
              <a:srgbClr val="FF8C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使用者控制：Autonomy Mode 三段（assistive / collaborative / autonomous）— 決定哪些 step 要 user approve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126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+ 7 條 Guardrail（quietHours / killSwitch / 信心閾值...） 在 execute 前過濾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 AI Agent 校園代理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 / 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INTENTS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9 個 AI Agent intents（5 角色都有）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36576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🎓 學生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今日學習自動安排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排 3 個 pomodoro + 自動預訂便當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36576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554480"/>
            <a:ext cx="36576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600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1600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🎓 學生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80560" y="2011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考前自動複習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0560" y="2468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考前 3 天排複習 + 邀學伴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1554480"/>
            <a:ext cx="36576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8160" y="1554480"/>
            <a:ext cx="365760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1600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52560" y="1600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👨‍🏫 老師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21040" y="2011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批量評語草擬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21040" y="2468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 份評語 + 缺繳提醒（demo 主秀）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36576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461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71600" y="3246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👨‍🏫 老師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657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紅旗學生關懷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" y="41148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識別連續缺繳 → 草擬關懷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97680" y="3200400"/>
            <a:ext cx="36576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97680" y="3200400"/>
            <a:ext cx="36576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0" y="32461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TA1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12080" y="3246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🧑‍💼 助教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80560" y="3657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求助自動回覆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480560" y="41148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對求助 → 對照歷史 → 草擬回覆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38160" y="3200400"/>
            <a:ext cx="36576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138160" y="3200400"/>
            <a:ext cx="365760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0" y="32461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052560" y="3246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🏛 主任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21040" y="3657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風險課程關懷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321040" y="41148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對任課老師主動聯繫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846320"/>
            <a:ext cx="36576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7200" y="4846320"/>
            <a:ext cx="365760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4892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D2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371600" y="4892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🏛 主任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0080" y="5303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本週系所重點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40080" y="5760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自動產出廣播稿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297680" y="4846320"/>
            <a:ext cx="36576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297680" y="4846320"/>
            <a:ext cx="3657600" cy="3657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89120" y="4892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V1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212080" y="4892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🍱 餐廳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480560" y="5303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久候自動補時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4480560" y="5760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20+ 分鐘訂單自動發折扣券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138160" y="4846320"/>
            <a:ext cx="36576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138160" y="4846320"/>
            <a:ext cx="3657600" cy="3657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29600" y="4892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V2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052560" y="4892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🍱 餐廳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321040" y="5303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尖峰前備料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8321040" y="5760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預測 30 分鐘進尖峰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intent registry 是 plug-in 架構，可任意擴展（每加一個 IntentDefinition → push 進 REGISTRY → 自動出現在對應角色 Console）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 AI Agent 校園代理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6 / 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PLAN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T1 批量評語草擬 — Plan 詳細展開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0292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502920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T1 · 老師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👨‍🏫 5 份評語批量草擬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已分析 5 份已繳作業 → 草擬個人化評語（含 aiPreReviewGrade 預判）+ 對 3 位缺繳學生發提醒。等你審計。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82%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0873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40873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medium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4714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estimateMinutes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44714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8 分鐘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8554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48554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awaiting_approval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440680"/>
            <a:ext cx="4663440" cy="100584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4406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✅ 批准 AI 開始執行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943600" y="15544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 個 Step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0" y="2011680"/>
            <a:ext cx="5760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0" y="2011680"/>
            <a:ext cx="73152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201168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583680" y="20574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 5 份作業跑 aiPreReviewGrade 預判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2468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3s · risk low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1247120" y="2240280"/>
            <a:ext cx="320040" cy="320040"/>
          </a:xfrm>
          <a:prstGeom prst="ellipse">
            <a:avLst/>
          </a:prstGeom>
          <a:solidFill>
            <a:srgbClr val="8C9AAD">
              <a:alpha val="30000"/>
            </a:srgbClr>
          </a:solidFill>
          <a:ln w="12700">
            <a:solidFill>
              <a:srgbClr val="8C9A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247120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⏳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0" y="2880360"/>
            <a:ext cx="5760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0" y="2880360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288036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83680" y="29260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對每份用 draftFeedback 草擬評語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33375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5s · risk medium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1247120" y="3108960"/>
            <a:ext cx="320040" cy="320040"/>
          </a:xfrm>
          <a:prstGeom prst="ellipse">
            <a:avLst/>
          </a:prstGeom>
          <a:solidFill>
            <a:srgbClr val="8C9AAD">
              <a:alpha val="30000"/>
            </a:srgbClr>
          </a:solidFill>
          <a:ln w="12700">
            <a:solidFill>
              <a:srgbClr val="8C9AA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24712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⏳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43600" y="3749040"/>
            <a:ext cx="5760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43600" y="3749040"/>
            <a:ext cx="73152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374904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583680" y="37947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 3 位缺繳跑 aiForecastBulkReminder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83680" y="4206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2s · risk low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1247120" y="3977640"/>
            <a:ext cx="320040" cy="320040"/>
          </a:xfrm>
          <a:prstGeom prst="ellipse">
            <a:avLst/>
          </a:prstGeom>
          <a:solidFill>
            <a:srgbClr val="8C9AAD">
              <a:alpha val="30000"/>
            </a:srgbClr>
          </a:solidFill>
          <a:ln w="12700">
            <a:solidFill>
              <a:srgbClr val="8C9AA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247120" y="3977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⏳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943600" y="4617720"/>
            <a:ext cx="5760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943600" y="4617720"/>
            <a:ext cx="73152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461772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583680" y="46634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生成 5 條評語 + 3 條提醒 → awaiting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583680" y="50749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1s · risk high · alwaysConfirm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1247120" y="4846320"/>
            <a:ext cx="320040" cy="320040"/>
          </a:xfrm>
          <a:prstGeom prst="ellipse">
            <a:avLst/>
          </a:prstGeom>
          <a:solidFill>
            <a:srgbClr val="8C9AAD">
              <a:alpha val="30000"/>
            </a:srgbClr>
          </a:solidFill>
          <a:ln w="12700">
            <a:solidFill>
              <a:srgbClr val="8C9AA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247120" y="4846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⏳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943600" y="5486400"/>
            <a:ext cx="5760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943600" y="5486400"/>
            <a:ext cx="73152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26480" y="548640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6583680" y="55321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老師審計後 → emit feedback_drafted + bulk_reminder_sent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583680" y="5943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2s · risk high · alwaysConfirm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1247120" y="5715000"/>
            <a:ext cx="320040" cy="320040"/>
          </a:xfrm>
          <a:prstGeom prst="ellipse">
            <a:avLst/>
          </a:prstGeom>
          <a:solidFill>
            <a:srgbClr val="8C9AAD">
              <a:alpha val="30000"/>
            </a:srgbClr>
          </a:solidFill>
          <a:ln w="12700">
            <a:solidFill>
              <a:srgbClr val="8C9AA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247120" y="5715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⏳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 AI Agent 校園代理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 / 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AUTONOMY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使用者控制：3 段自動程度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6576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365760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🛡 完全詢問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只 plan，所有 step 都要 user approve。最安全、最保守。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適合：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新使用者 / 高敏感領域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983480"/>
            <a:ext cx="3108960" cy="1051560"/>
          </a:xfrm>
          <a:prstGeom prst="rect">
            <a:avLst/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029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比喻：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5257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 AI 當「副駕」用 — AI 給建議、你按按鈕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691640"/>
            <a:ext cx="36576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1691640"/>
            <a:ext cx="3657600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🤝 協作模式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80560" y="2377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collaborative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27432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low / medium risk 自動跑、high risk 跳 confirm。預設模式。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適合：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4389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大部分使用者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4983480"/>
            <a:ext cx="3108960" cy="1051560"/>
          </a:xfrm>
          <a:prstGeom prst="rect">
            <a:avLst/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5029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比喻：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5257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 AI 當「實習生」用 — 小事自動做、大事問你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1691640"/>
            <a:ext cx="36576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38160" y="1691640"/>
            <a:ext cx="365760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🚀 全自動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21040" y="2377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autonomous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0" y="27432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全部自動跑（仍經 quiet hours / killSwitch 過濾）+ 事後審計。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0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適合：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0" y="4389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重度使用者 / 後台批次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412480" y="4983480"/>
            <a:ext cx="3108960" cy="1051560"/>
          </a:xfrm>
          <a:prstGeom prst="rect">
            <a:avLst/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0" y="5029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比喻：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03920" y="5257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 AI 當「代理人」用 — 全部代你做、事後給報告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使用者可隨時在 AI Agent Console 切換 — 每個 plan 跑前都依當下 mode 決定走法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 AI Agent 校園代理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8 / 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COCKPIT INTEGRATION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 角色 cockpit 都有 AgentBanner 入口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48056" y="1554480"/>
            <a:ext cx="212140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48056" y="1554480"/>
            <a:ext cx="2121408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164592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🎓 學生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" y="2194560"/>
            <a:ext cx="1755648" cy="256032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30936" y="292608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3360" dirty="0"/>
          </a:p>
        </p:txBody>
      </p:sp>
      <p:sp>
        <p:nvSpPr>
          <p:cNvPr id="9" name="Text 7"/>
          <p:cNvSpPr/>
          <p:nvPr/>
        </p:nvSpPr>
        <p:spPr>
          <a:xfrm>
            <a:off x="722376" y="34290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cockpit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722376" y="37490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S01-today-cockpit.png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734056" y="1554480"/>
            <a:ext cx="212140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34056" y="1554480"/>
            <a:ext cx="2121408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25496" y="164592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👨‍🏫 老師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16936" y="2194560"/>
            <a:ext cx="1755648" cy="256032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2916936" y="292608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3360" dirty="0"/>
          </a:p>
        </p:txBody>
      </p:sp>
      <p:sp>
        <p:nvSpPr>
          <p:cNvPr id="16" name="Text 14"/>
          <p:cNvSpPr/>
          <p:nvPr/>
        </p:nvSpPr>
        <p:spPr>
          <a:xfrm>
            <a:off x="3008376" y="34290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cockpit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3008376" y="37490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S03-teacher-cockpit.png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020056" y="1554480"/>
            <a:ext cx="212140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0056" y="1554480"/>
            <a:ext cx="2121408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11496" y="164592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🧑‍💼 助教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202936" y="2194560"/>
            <a:ext cx="1755648" cy="256032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202936" y="292608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3360" dirty="0"/>
          </a:p>
        </p:txBody>
      </p:sp>
      <p:sp>
        <p:nvSpPr>
          <p:cNvPr id="23" name="Text 21"/>
          <p:cNvSpPr/>
          <p:nvPr/>
        </p:nvSpPr>
        <p:spPr>
          <a:xfrm>
            <a:off x="5294376" y="34290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cockpit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5294376" y="37490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S06-ta-dashboard.png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7306056" y="1554480"/>
            <a:ext cx="212140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06056" y="1554480"/>
            <a:ext cx="2121408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97496" y="164592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🏛 主任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488936" y="2194560"/>
            <a:ext cx="1755648" cy="256032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7488936" y="292608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3360" dirty="0"/>
          </a:p>
        </p:txBody>
      </p:sp>
      <p:sp>
        <p:nvSpPr>
          <p:cNvPr id="30" name="Text 28"/>
          <p:cNvSpPr/>
          <p:nvPr/>
        </p:nvSpPr>
        <p:spPr>
          <a:xfrm>
            <a:off x="7580376" y="34290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cockpit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7580376" y="37490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S08-department-dashboard.png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9592056" y="1554480"/>
            <a:ext cx="212140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592056" y="1554480"/>
            <a:ext cx="2121408" cy="4572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83496" y="164592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🍱 餐廳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774936" y="2194560"/>
            <a:ext cx="1755648" cy="256032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9774936" y="292608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3360" dirty="0"/>
          </a:p>
        </p:txBody>
      </p:sp>
      <p:sp>
        <p:nvSpPr>
          <p:cNvPr id="37" name="Text 35"/>
          <p:cNvSpPr/>
          <p:nvPr/>
        </p:nvSpPr>
        <p:spPr>
          <a:xfrm>
            <a:off x="9866376" y="34290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cockpit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9866376" y="374904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S07-vendor-dashboard.png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57200" y="5029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↓ 5 個 cockpit hero 都嵌入同一條 AgentBanner（共用 component）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337560" y="5440680"/>
            <a:ext cx="5486400" cy="8686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37560" y="5440680"/>
            <a:ext cx="1371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66160" y="544068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4206240" y="5532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今日已代你完成 3 件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206240" y="58978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🟡 1 件等你批准 · 點此查看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275320" y="544068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點下去 → 進 AIAgentConsoleScreen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 AI Agent 校園代理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9 / 25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AGENT CONSOLE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Agent Console｜AI 駕駛室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383280" cy="475488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3383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886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Console 主畫面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S19-agent-console.png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280160" cy="256032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S19 ⭐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023360" y="1554480"/>
            <a:ext cx="3383280" cy="475488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023360" y="3383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114800" y="3886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Plan 展開含 Verify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4206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S20-agent-plan-detail.png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0" y="1645920"/>
            <a:ext cx="1280160" cy="256032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S20 ⭐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589520" y="16916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0" y="18745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📊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Hero + 4 metric chips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6676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✅ 完成 / 🟡 待批准 / 🟢 執行中 / ❌ 失敗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589520" y="26060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0" y="2788920"/>
            <a:ext cx="457200" cy="45720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🎛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66760" y="2697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Autonomy Mode 三段切換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6676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🛡 完全詢問 / 🤝 協作 / 🚀 全自動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89520" y="35204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0" y="37033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🟡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6676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section：等批准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6676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plan 好的任務，等 user 按「✅ 批准」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89520" y="44348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72400" y="461772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🟢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66760" y="4526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section：執行中 + 已完成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66760" y="4846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顯示每 step 的 ✅/❌ + verify 結論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589520" y="53492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772400" y="5532120"/>
            <a:ext cx="45720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0" y="5532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➕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366760" y="5440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section：新增 AI 任務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366760" y="5760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 9 個 intent 挑一個讓 AI 代你跑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 AI Agent 校園代理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10 / 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ROLE 1 /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🎓 學生｜TodayCockpit + S1/S2 Agent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017520" cy="475488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TodayCockpit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S01-today-cockpit.png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1280160" cy="256032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S01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49040" y="1554480"/>
            <a:ext cx="3017520" cy="475488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749040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840480" y="3886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 V04 即時 inbox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V04-student-cockpit.mp4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0" y="1645920"/>
            <a:ext cx="1280160" cy="256032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V04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0" y="1691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學生可用 Agent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040880" y="2194560"/>
            <a:ext cx="46634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40880" y="2194560"/>
            <a:ext cx="548640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219456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26680" y="22860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今日學習自動安排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26680" y="265176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排 3 個 25 分鐘 pomodoro + 預訂便當（4 step）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40880" y="3474720"/>
            <a:ext cx="46634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40880" y="3474720"/>
            <a:ext cx="548640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34747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26680" y="35661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考前自動複習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26680" y="393192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偵測 3 天後考試 → 排 5 場 + 邀學伴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40880" y="4937760"/>
            <a:ext cx="4663440" cy="1417320"/>
          </a:xfrm>
          <a:prstGeom prst="rect">
            <a:avLst/>
          </a:prstGeom>
          <a:solidFill>
            <a:srgbClr val="FFD8B5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0" y="4983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💡 demo 重點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525780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學生啟動 S1 → AI 自動下單便當 → 訂單即時跳到餐廳 → 學生收餐通知。整段不用點任何「下單」按鈕。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 AI Agent 校園代理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11 / 25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ROLE 2 /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👨‍🏫 老師｜TeacherCockpit + T1/T2 Agent（demo 主秀）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017520" cy="475488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TeacherCockpit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S03-teacher-cockpit.png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1280160" cy="256032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S03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49040" y="1554480"/>
            <a:ext cx="3017520" cy="475488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749040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840480" y="3886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 V14 Agent 跑完 5 step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V14-ai-agent-console-full.mp4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0" y="1645920"/>
            <a:ext cx="1280160" cy="256032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V14 ⭐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0" y="1691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老師可用 Agent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040880" y="2194560"/>
            <a:ext cx="4663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40880" y="2194560"/>
            <a:ext cx="548640" cy="2011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2194560"/>
            <a:ext cx="548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26680" y="23317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批量評語草擬 + 缺繳提醒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26680" y="2697480"/>
            <a:ext cx="3886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 step：aiPreReviewGrade × 5 → draftFeedback × 5 → aiForecastBulkReminder → awaiting → emit。省 30 分鐘批改時間。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40880" y="4343400"/>
            <a:ext cx="4663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40880" y="4343400"/>
            <a:ext cx="548640" cy="20116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4343400"/>
            <a:ext cx="548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26680" y="44805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紅旗學生關懷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26680" y="4846320"/>
            <a:ext cx="3886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 step：找連續 3 份未繳 → aiThinking 觀察 → 草擬慰問 → dynamicQuietHours 過濾 → 老師批准。**high risk 即使全自動模式也要 confirm**。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 AI Agent 校園代理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12 / 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ROLES 3 - 5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🧑‍💼 助教 · 🏛 主任 · 🍱 餐廳 Agent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36576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🧑‍💼 助教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286000"/>
            <a:ext cx="3200400" cy="182880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85800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cockpit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77240" y="3474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S06-ta-dashboard.png</a:t>
            </a:r>
            <a:endParaRPr lang="en-US" sz="500" dirty="0"/>
          </a:p>
        </p:txBody>
      </p:sp>
      <p:sp>
        <p:nvSpPr>
          <p:cNvPr id="11" name="Shape 9"/>
          <p:cNvSpPr/>
          <p:nvPr/>
        </p:nvSpPr>
        <p:spPr>
          <a:xfrm>
            <a:off x="685800" y="4251960"/>
            <a:ext cx="3200400" cy="1005840"/>
          </a:xfrm>
          <a:prstGeom prst="rect">
            <a:avLst/>
          </a:prstGeom>
          <a:solidFill>
            <a:srgbClr val="F5F7F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3434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TA1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25880" y="4343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求助自動草擬回覆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709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對求助 → aiSemanticReasoner 解讀 → 搜歷史 → 草擬。回覆時間 30 分 → 3 分。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0" y="1554480"/>
            <a:ext cx="36576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1554480"/>
            <a:ext cx="365760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🏛 主任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26280" y="2286000"/>
            <a:ext cx="3200400" cy="182880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526280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617720" y="3154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cockpit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617720" y="3474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S08-department-dashboard.png</a:t>
            </a:r>
            <a:endParaRPr lang="en-US" sz="500" dirty="0"/>
          </a:p>
        </p:txBody>
      </p:sp>
      <p:sp>
        <p:nvSpPr>
          <p:cNvPr id="22" name="Shape 20"/>
          <p:cNvSpPr/>
          <p:nvPr/>
        </p:nvSpPr>
        <p:spPr>
          <a:xfrm>
            <a:off x="4526280" y="4251960"/>
            <a:ext cx="3200400" cy="1005840"/>
          </a:xfrm>
          <a:prstGeom prst="rect">
            <a:avLst/>
          </a:prstGeom>
          <a:solidFill>
            <a:srgbClr val="F5F7F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43434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66360" y="4343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風險課程關懷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4709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對任課老師主動聯繫 + 教學工坊連結。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26280" y="5349240"/>
            <a:ext cx="3200400" cy="1005840"/>
          </a:xfrm>
          <a:prstGeom prst="rect">
            <a:avLst/>
          </a:prstGeom>
          <a:solidFill>
            <a:srgbClr val="F5F7F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54406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5440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本週系所重點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5806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從 RoleEvent 歸納 5 重點 → 廣播稿。每週省 3 小時。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138160" y="1554480"/>
            <a:ext cx="36576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38160" y="1554480"/>
            <a:ext cx="3657600" cy="5029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🍱 餐廳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366760" y="2286000"/>
            <a:ext cx="3200400" cy="182880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8366760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8458200" y="3154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cockpit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458200" y="3474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S07-vendor-dashboard.png</a:t>
            </a:r>
            <a:endParaRPr lang="en-US" sz="500" dirty="0"/>
          </a:p>
        </p:txBody>
      </p:sp>
      <p:sp>
        <p:nvSpPr>
          <p:cNvPr id="37" name="Shape 35"/>
          <p:cNvSpPr/>
          <p:nvPr/>
        </p:nvSpPr>
        <p:spPr>
          <a:xfrm>
            <a:off x="8366760" y="4251960"/>
            <a:ext cx="3200400" cy="1005840"/>
          </a:xfrm>
          <a:prstGeom prst="rect">
            <a:avLst/>
          </a:prstGeom>
          <a:solidFill>
            <a:srgbClr val="F5F7FB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58200" y="43434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006840" y="4343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久候自動補時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503920" y="4709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20+ 分鐘訂單 → 自動發折扣券（low risk 全自動）。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366760" y="5349240"/>
            <a:ext cx="3200400" cy="1005840"/>
          </a:xfrm>
          <a:prstGeom prst="rect">
            <a:avLst/>
          </a:prstGeom>
          <a:solidFill>
            <a:srgbClr val="F5F7FB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58200" y="54406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006840" y="5440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尖峰前備料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503920" y="5806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預測 30 分鐘進尖峰 → 推員工 checklist。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 AI Agent 校園代理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13 / 25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DATA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RoleEventBus｜Agent emit 整合到 14 事件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166360" y="2377440"/>
            <a:ext cx="1828800" cy="1828800"/>
          </a:xfrm>
          <a:prstGeom prst="ellipse">
            <a:avLst/>
          </a:prstGeom>
          <a:solidFill>
            <a:srgbClr val="1E2761"/>
          </a:solidFill>
          <a:ln w="50800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66360" y="23774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Role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Event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Bus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1463040"/>
            <a:ext cx="1371600" cy="1371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15544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🎓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23444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學生 + S1/S2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483" y="2343750"/>
            <a:ext cx="2413704" cy="685711"/>
          </a:xfrm>
          <a:prstGeom prst="line">
            <a:avLst/>
          </a:prstGeom>
          <a:noFill/>
          <a:ln w="19050">
            <a:solidFill>
              <a:srgbClr val="8C9AAD"/>
            </a:solidFill>
            <a:prstDash val="solid"/>
            <a:headEnd type="triangl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418320" y="1463040"/>
            <a:ext cx="1371600" cy="1371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418320" y="15544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👨‍🏫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28116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老師 + T1/T2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418037" y="2343750"/>
            <a:ext cx="-2413704" cy="685711"/>
          </a:xfrm>
          <a:prstGeom prst="line">
            <a:avLst/>
          </a:prstGeom>
          <a:noFill/>
          <a:ln w="19050">
            <a:solidFill>
              <a:srgbClr val="8C9AAD"/>
            </a:solidFill>
            <a:prstDash val="solid"/>
            <a:headEnd type="triangl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371600" y="4023360"/>
            <a:ext cx="1371600" cy="1371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71600" y="41148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🧑‍💼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234440" y="4892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助教 + TA1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30112" y="4472182"/>
            <a:ext cx="2445074" cy="-861333"/>
          </a:xfrm>
          <a:prstGeom prst="line">
            <a:avLst/>
          </a:prstGeom>
          <a:noFill/>
          <a:ln w="19050">
            <a:solidFill>
              <a:srgbClr val="8C9AAD"/>
            </a:solidFill>
            <a:prstDash val="solid"/>
            <a:headEnd type="triangl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418320" y="4023360"/>
            <a:ext cx="1371600" cy="1371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418320" y="41148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🏛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281160" y="4892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主任 + D1/D2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431408" y="4472182"/>
            <a:ext cx="-2445074" cy="-861333"/>
          </a:xfrm>
          <a:prstGeom prst="line">
            <a:avLst/>
          </a:prstGeom>
          <a:noFill/>
          <a:ln w="19050">
            <a:solidFill>
              <a:srgbClr val="8C9AAD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394960" y="4434840"/>
            <a:ext cx="1371600" cy="1371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8C4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94960" y="45262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🍱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5257800" y="5303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餐廳 + V1/V2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4407408"/>
            <a:ext cx="0" cy="-155448"/>
          </a:xfrm>
          <a:prstGeom prst="line">
            <a:avLst/>
          </a:prstGeom>
          <a:noFill/>
          <a:ln w="19050">
            <a:solidFill>
              <a:srgbClr val="8C9AAD"/>
            </a:solidFill>
            <a:prstDash val="solid"/>
            <a:headEnd type="triangl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65760" y="5623560"/>
            <a:ext cx="11430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56692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14 RoleEvent kinds + Agent emit 整合：例如 T1 跑完 step 5 自動 emit feedback_drafted + bulk_reminder_sent，學生 inbox 即時收到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 AI Agent 校園代理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14 / 25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LIVE LINK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Agent + 跨角色｜學生 Agent 下單 → 餐廳即時 +1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🎓 學生（iPhone A）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3200400" cy="429768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31520" y="3566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069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 V14 S1 agent 跑完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389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V14-ai-agent-console-full.mp4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057400"/>
            <a:ext cx="1280160" cy="256032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V14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0" y="4023360"/>
            <a:ext cx="1280160" cy="0"/>
          </a:xfrm>
          <a:prstGeom prst="line">
            <a:avLst/>
          </a:prstGeom>
          <a:noFill/>
          <a:ln w="50800">
            <a:solidFill>
              <a:srgbClr val="FF8C42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11480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emit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23360" y="4160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order_placed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0" y="1965960"/>
            <a:ext cx="27432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7784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Agent 事件流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2356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1. S1 plan 建立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23560" y="30266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2. user 批准（alwaysConfirm）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23560" y="3447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3. step 4 simulateStudentOrderFood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23560" y="38679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4. emit order_placed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23560" y="42885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5. VendorDashboard sub 收到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2356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6. setOrders push 新單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23560" y="51297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7. AI verify confidence 95%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23560" y="55504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8. 寫 audit log + persist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321040" y="4023360"/>
            <a:ext cx="1280160" cy="0"/>
          </a:xfrm>
          <a:prstGeom prst="line">
            <a:avLst/>
          </a:prstGeom>
          <a:noFill/>
          <a:ln w="50800">
            <a:solidFill>
              <a:srgbClr val="FF8C42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832104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即時 +1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92640" y="1554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🍱 餐廳（iPhone B）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692640" y="1965960"/>
            <a:ext cx="2011680" cy="429768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969264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978408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 V05 餐廳收到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784080" y="4389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V05-vendor-receive.mp4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784080" y="2057400"/>
            <a:ext cx="1280160" cy="256032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V05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 AI Agent 校園代理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15 / 25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NEW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校園生活｜學伴 / 公車 / 地圖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36576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🤝 AI 學伴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240280"/>
            <a:ext cx="3200400" cy="310896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85800" y="3246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77240" y="3749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🤝 AI 學伴</a:t>
            </a:r>
            <a:endParaRPr lang="en-US" sz="1190" dirty="0"/>
          </a:p>
        </p:txBody>
      </p:sp>
      <p:sp>
        <p:nvSpPr>
          <p:cNvPr id="10" name="Text 8"/>
          <p:cNvSpPr/>
          <p:nvPr/>
        </p:nvSpPr>
        <p:spPr>
          <a:xfrm>
            <a:off x="777240" y="4069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S11-ai-study-buddy.png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77240" y="2331720"/>
            <a:ext cx="1280160" cy="256032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S11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54864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 維配對：共同課 30% / 強弱互補 35% / 空堂 20% / 學習風格 15%。3 模式 + 嚴格 toggle。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554480"/>
            <a:ext cx="36576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7680" y="1554480"/>
            <a:ext cx="365760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🚌 BusV2 + OnBusMode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26280" y="2240280"/>
            <a:ext cx="3200400" cy="310896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526280" y="3246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617720" y="3749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🚌 BusV2 + OnBusMode</a:t>
            </a:r>
            <a:endParaRPr lang="en-US" sz="1190" dirty="0"/>
          </a:p>
        </p:txBody>
      </p:sp>
      <p:sp>
        <p:nvSpPr>
          <p:cNvPr id="19" name="Text 17"/>
          <p:cNvSpPr/>
          <p:nvPr/>
        </p:nvSpPr>
        <p:spPr>
          <a:xfrm>
            <a:off x="4617720" y="4069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S12-bus-v2.png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17720" y="2331720"/>
            <a:ext cx="1280160" cy="256032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S12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26280" y="54864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Leaflet 即時地圖 + 自繪 bus pin + AI 建議卡 + 沉浸式搭車模式 + Haptics 下車提醒。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38160" y="1554480"/>
            <a:ext cx="36576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38160" y="1554480"/>
            <a:ext cx="3657600" cy="4572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🗺 GoogleMapsLike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366760" y="2240280"/>
            <a:ext cx="3200400" cy="310896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8366760" y="3246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8458200" y="3749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🗺 GoogleMapsLike</a:t>
            </a:r>
            <a:endParaRPr lang="en-US" sz="1190" dirty="0"/>
          </a:p>
        </p:txBody>
      </p:sp>
      <p:sp>
        <p:nvSpPr>
          <p:cNvPr id="28" name="Text 26"/>
          <p:cNvSpPr/>
          <p:nvPr/>
        </p:nvSpPr>
        <p:spPr>
          <a:xfrm>
            <a:off x="8458200" y="4069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S16-google-poi.png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458200" y="2331720"/>
            <a:ext cx="1280160" cy="256032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S16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66760" y="54864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 圖層 + 9 類別 POI 過濾 + turn-by-turn HUD + expo-speech 語音 + AR 帶我去深連。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 AI Agent 校園代理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16 / 25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WEB MULTI-ROLE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Web 8 角色 + Admin 攔截卡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325880" cy="1280160"/>
          </a:xfrm>
          <a:prstGeom prst="rect">
            <a:avLst/>
          </a:prstGeom>
          <a:solidFill>
            <a:srgbClr val="8C9AAD"/>
          </a:solidFill>
          <a:ln w="12700">
            <a:solidFill>
              <a:srgbClr val="8C9A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👤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2331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訪客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74520" y="1554480"/>
            <a:ext cx="132588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4520" y="16459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🎓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920240" y="2331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學生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1325880" cy="1280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6459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👨‍🏫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37560" y="2331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教師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554480"/>
            <a:ext cx="1325880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6459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🧑‍💼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54880" y="2331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554480"/>
            <a:ext cx="1325880" cy="12801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6459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🏃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72200" y="2331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社團幹部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43800" y="1554480"/>
            <a:ext cx="1325880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3800" y="16459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🏛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589520" y="2331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系主任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61120" y="1554480"/>
            <a:ext cx="1325880" cy="12801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0" y="16459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⚙️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006840" y="2331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管理員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378440" y="1554480"/>
            <a:ext cx="1325880" cy="12801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78440" y="16459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🎓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0424160" y="2331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校友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108960"/>
            <a:ext cx="5029200" cy="320040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457200" y="4160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548640" y="4663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5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Web 首頁 + DemoRolePill</a:t>
            </a:r>
            <a:endParaRPr lang="en-US" sz="1225" dirty="0"/>
          </a:p>
        </p:txBody>
      </p:sp>
      <p:sp>
        <p:nvSpPr>
          <p:cNvPr id="31" name="Text 29"/>
          <p:cNvSpPr/>
          <p:nvPr/>
        </p:nvSpPr>
        <p:spPr>
          <a:xfrm>
            <a:off x="548640" y="4983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5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S14-web-home.png</a:t>
            </a:r>
            <a:endParaRPr lang="en-US" sz="875" dirty="0"/>
          </a:p>
        </p:txBody>
      </p:sp>
      <p:sp>
        <p:nvSpPr>
          <p:cNvPr id="32" name="Text 30"/>
          <p:cNvSpPr/>
          <p:nvPr/>
        </p:nvSpPr>
        <p:spPr>
          <a:xfrm>
            <a:off x="548640" y="3200400"/>
            <a:ext cx="1280160" cy="256032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S14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760720" y="3108960"/>
            <a:ext cx="5029200" cy="320040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5760720" y="4160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35" name="Text 33"/>
          <p:cNvSpPr/>
          <p:nvPr/>
        </p:nvSpPr>
        <p:spPr>
          <a:xfrm>
            <a:off x="5852160" y="4663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5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Alumni 攔截卡（你看不到 admin）</a:t>
            </a:r>
            <a:endParaRPr lang="en-US" sz="1225" dirty="0"/>
          </a:p>
        </p:txBody>
      </p:sp>
      <p:sp>
        <p:nvSpPr>
          <p:cNvPr id="36" name="Text 34"/>
          <p:cNvSpPr/>
          <p:nvPr/>
        </p:nvSpPr>
        <p:spPr>
          <a:xfrm>
            <a:off x="5852160" y="4983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5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S15-web-admin.png</a:t>
            </a:r>
            <a:endParaRPr lang="en-US" sz="875" dirty="0"/>
          </a:p>
        </p:txBody>
      </p:sp>
      <p:sp>
        <p:nvSpPr>
          <p:cNvPr id="37" name="Text 35"/>
          <p:cNvSpPr/>
          <p:nvPr/>
        </p:nvSpPr>
        <p:spPr>
          <a:xfrm>
            <a:off x="5852160" y="3200400"/>
            <a:ext cx="1280160" cy="256032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S15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▶ V12-web-role-switch.mp4 — 預錄影片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 AI Agent 校園代理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17 / 25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TRUST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透明可審計｜7 Guardrail + 信任卡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 條 Guardrail（aiSkillApplicator）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154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21945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0848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每日上限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10 次推送 / 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49040" y="2011680"/>
            <a:ext cx="3154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86200" y="21945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20848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信心閾值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2423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&lt; 60% → ask user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3154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1089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29992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高影響先問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3337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high risk → confirm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49040" y="2926080"/>
            <a:ext cx="3154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86200" y="31089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80560" y="29992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Quiet Hours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80560" y="3337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課中/餐尖峰自動擋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3154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40233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88720" y="39136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連拒煞車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88720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連 3 拒 → 暫停 24h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749040" y="3840480"/>
            <a:ext cx="3154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86200" y="40233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862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80560" y="39136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急停 killSwitch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480560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user 可全停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754880"/>
            <a:ext cx="3154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4360" y="49377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88720" y="48280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Audit + Verify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88720" y="5166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 plan 寫 audit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589520" y="1691640"/>
            <a:ext cx="4114800" cy="4709160"/>
          </a:xfrm>
          <a:prstGeom prst="rect">
            <a:avLst/>
          </a:prstGeom>
          <a:solidFill>
            <a:srgbClr val="F5F7FB"/>
          </a:solidFill>
          <a:ln w="19050">
            <a:solidFill>
              <a:srgbClr val="8C9AAD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7589520" y="34975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4000" dirty="0"/>
          </a:p>
        </p:txBody>
      </p:sp>
      <p:sp>
        <p:nvSpPr>
          <p:cNvPr id="42" name="Text 40"/>
          <p:cNvSpPr/>
          <p:nvPr/>
        </p:nvSpPr>
        <p:spPr>
          <a:xfrm>
            <a:off x="7680960" y="40005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信任卡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680960" y="43205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S18-ai-trust-card.png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680960" y="1783080"/>
            <a:ext cx="1280160" cy="256032"/>
          </a:xfrm>
          <a:prstGeom prst="rect">
            <a:avLst/>
          </a:prstGeom>
          <a:solidFill>
            <a:srgbClr val="FF8C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S18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 AI Agent 校園代理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18 / 25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技術棧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54864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Mobile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Native 0.81 + Expo SDK 54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Web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2651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16 + React 19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Shared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@campus/shared TS package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554480"/>
            <a:ext cx="54864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/ Agent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離線模型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6384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MLX (Apple Silicon)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Agent Runtime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63840" y="2651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aiAgentRuntime.ts (新)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27 個 ai*.ts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6384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Perceive/Think/Act/Scan/Learn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023360"/>
            <a:ext cx="54864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069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Backend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572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BaaS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03120" y="4572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Auth + Firestore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5120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LMS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03120" y="5120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tronClassClient adapter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5669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Server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103120" y="5669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FastAPI（訓練）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402336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4023360"/>
            <a:ext cx="54864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4069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Quality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0" y="4572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Test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Jest 950+ tests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0" y="5120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863840" y="5120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strict mode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5669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新增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863840" y="5669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aiAgentRuntime.ts type-safe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 AI Agent 校園代理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19 / 25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vs TronClass / vs ChatGPT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4300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91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項目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6596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TronClass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6636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ChatGPT 類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6676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8B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我們 AI Agent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11430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488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定位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65960" y="21488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LMS 真源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66360" y="21488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通用 chatbot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66760" y="21488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 AI Agent（代你跑事情）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715768"/>
            <a:ext cx="11430000" cy="566928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71576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65960" y="271576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無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66360" y="271576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一問一答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66760" y="27157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Plan → Execute → Verify 全自動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82696"/>
            <a:ext cx="11430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28269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聯動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65960" y="328269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email/push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66360" y="328269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66760" y="32826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14 RoleEvent 即時跨 5 角色 + Agent emit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849624"/>
            <a:ext cx="11430000" cy="566928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84962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離線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65960" y="384962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需網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66360" y="384962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需 API key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66760" y="384962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offline-first + 本地 MLX 模型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416552"/>
            <a:ext cx="11430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41655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校園知識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65960" y="441655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有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66360" y="441655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通用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66760" y="441655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 門課 + 老師 + 餐廳 + 公車校園知識圖譜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983480"/>
            <a:ext cx="11430000" cy="566928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9834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風險控管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965960" y="49834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—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66360" y="49834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—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366760" y="49834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 Guardrail + 3 段 Autonomy + killSwitch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5550408"/>
            <a:ext cx="11430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555040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透明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965960" y="555040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—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66360" y="555040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黑盒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366760" y="555040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信任卡 + Audit log 全程可審計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 AI Agent 校園代理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 / 25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DEMO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11 分鐘 demo｜每個角色都有 Agent 任務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11064240" cy="0"/>
          </a:xfrm>
          <a:prstGeom prst="line">
            <a:avLst/>
          </a:prstGeom>
          <a:noFill/>
          <a:ln w="25400">
            <a:solidFill>
              <a:srgbClr val="FF8C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1752" y="2953512"/>
            <a:ext cx="502920" cy="502920"/>
          </a:xfrm>
          <a:prstGeom prst="ellipse">
            <a:avLst/>
          </a:prstGeom>
          <a:solidFill>
            <a:srgbClr val="EF44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👨‍🏫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" y="2240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0:00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-45720" y="3566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老師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07592" y="2953512"/>
            <a:ext cx="502920" cy="502920"/>
          </a:xfrm>
          <a:prstGeom prst="ellipse">
            <a:avLst/>
          </a:prstGeom>
          <a:solidFill>
            <a:srgbClr val="FF8C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07592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240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0:20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566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+T1 agent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13432" y="2953512"/>
            <a:ext cx="502920" cy="502920"/>
          </a:xfrm>
          <a:prstGeom prst="ellipse">
            <a:avLst/>
          </a:prstGeom>
          <a:solidFill>
            <a:srgbClr val="FF8C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13432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57400" y="2240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1:30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65960" y="3566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T1 done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19272" y="2953512"/>
            <a:ext cx="502920" cy="50292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9272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063240" y="2240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2:30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71800" y="3566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學生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25112" y="2953512"/>
            <a:ext cx="502920" cy="502920"/>
          </a:xfrm>
          <a:prstGeom prst="ellipse">
            <a:avLst/>
          </a:prstGeom>
          <a:solidFill>
            <a:srgbClr val="FF8C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25112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069080" y="2240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3:00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77640" y="3566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+S1 agent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30952" y="2953512"/>
            <a:ext cx="502920" cy="502920"/>
          </a:xfrm>
          <a:prstGeom prst="ellipse">
            <a:avLst/>
          </a:prstGeom>
          <a:solidFill>
            <a:srgbClr val="0EA5E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30952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🚌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74920" y="2240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4:30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3566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公車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36792" y="2953512"/>
            <a:ext cx="502920" cy="502920"/>
          </a:xfrm>
          <a:prstGeom prst="ellipse">
            <a:avLst/>
          </a:prstGeom>
          <a:solidFill>
            <a:srgbClr val="FF8C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36792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🍱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80760" y="2240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5:30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89320" y="3566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餐廳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42632" y="2953512"/>
            <a:ext cx="502920" cy="502920"/>
          </a:xfrm>
          <a:prstGeom prst="ellipse">
            <a:avLst/>
          </a:prstGeom>
          <a:solidFill>
            <a:srgbClr val="FF8C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42632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86600" y="2240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6:00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95160" y="3566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+V1 自動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348472" y="2953512"/>
            <a:ext cx="502920" cy="50292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48472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🏛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092440" y="2240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7:30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01000" y="3566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主任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354312" y="2953512"/>
            <a:ext cx="502920" cy="502920"/>
          </a:xfrm>
          <a:prstGeom prst="ellipse">
            <a:avLst/>
          </a:prstGeom>
          <a:solidFill>
            <a:srgbClr val="FF8C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54312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098280" y="2240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8:00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006840" y="3566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+D2 agent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0360152" y="2953512"/>
            <a:ext cx="502920" cy="502920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360152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💻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104120" y="2240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9:00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012680" y="3566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Web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1365992" y="2953512"/>
            <a:ext cx="502920" cy="50292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365992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🛡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109960" y="2240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10:15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1018520" y="3566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信任卡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48640" y="5029200"/>
            <a:ext cx="3657600" cy="1371600"/>
          </a:xfrm>
          <a:prstGeom prst="rect">
            <a:avLst/>
          </a:prstGeom>
          <a:solidFill>
            <a:srgbClr val="0E17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1520" y="5166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 T1+T2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731520" y="55321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老師 Agent：批量評語 + 紅旗關懷（autonomy + Guardrail 雙重示範）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389120" y="5029200"/>
            <a:ext cx="3657600" cy="1371600"/>
          </a:xfrm>
          <a:prstGeom prst="rect">
            <a:avLst/>
          </a:prstGeom>
          <a:solidFill>
            <a:srgbClr val="0E17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0" y="5166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 S1→V1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4572000" y="55321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學生 Agent 下單 → 餐廳 Agent 自動補時（跨角色雙 Agent 鏈）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229600" y="5029200"/>
            <a:ext cx="3657600" cy="1371600"/>
          </a:xfrm>
          <a:prstGeom prst="rect">
            <a:avLst/>
          </a:prstGeom>
          <a:solidFill>
            <a:srgbClr val="0E17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12480" y="5166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 D2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8412480" y="55321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主任 Agent 自動產出系所廣播稿（最省時間的場景）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 AI Agent 校園代理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21 / 25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下一階段｜商轉路徑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5486400" cy="4114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00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2026 Q3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校內試行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 系 5 課 200 學生 beta；收 AI 採納率 + NPS + Agent verify 成功率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554480"/>
            <a:ext cx="5486400" cy="4114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600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2026 Q4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103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v4 agentReasoningEngine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26060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自己決定要做哪個 intent（不是 user 選）；接 multi-step Plan-Execute-Verify-Synthesize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840480"/>
            <a:ext cx="5486400" cy="4114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886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2027 Q1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389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v5 多 Agent 協作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48920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Agent talking to agent — 學生 Agent 直接跟老師 Agent 溝通約 office hour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3840480"/>
            <a:ext cx="5486400" cy="4114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886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2027 Q2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4389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校際 SaaS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0" y="48920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 LMS adapter；學校付費，學生免費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 AI Agent 校園代理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22 / 25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ACHIEVEMENT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專題成果｜可量化證據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657600" cy="2194560"/>
          </a:xfrm>
          <a:prstGeom prst="rect">
            <a:avLst/>
          </a:prstGeom>
          <a:solidFill>
            <a:srgbClr val="0E17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27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Service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Perceive / Think / Act / Scan / Learn 五層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657600" cy="2194560"/>
          </a:xfrm>
          <a:prstGeom prst="rect">
            <a:avLst/>
          </a:prstGeom>
          <a:solidFill>
            <a:srgbClr val="0E17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8745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9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4480560" y="2926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Agent Intents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0560" y="3291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 角色都有對應自動代理任務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657600" cy="2194560"/>
          </a:xfrm>
          <a:prstGeom prst="rect">
            <a:avLst/>
          </a:prstGeom>
          <a:solidFill>
            <a:srgbClr val="0E17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8745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14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8321040" y="2926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RoleEvent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21040" y="3291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跨角色聯動事件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3657600" cy="2194560"/>
          </a:xfrm>
          <a:prstGeom prst="rect">
            <a:avLst/>
          </a:prstGeom>
          <a:solidFill>
            <a:srgbClr val="0E17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2519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950+</a:t>
            </a:r>
            <a:endParaRPr lang="en-US" sz="6400" dirty="0"/>
          </a:p>
        </p:txBody>
      </p:sp>
      <p:sp>
        <p:nvSpPr>
          <p:cNvPr id="18" name="Text 16"/>
          <p:cNvSpPr/>
          <p:nvPr/>
        </p:nvSpPr>
        <p:spPr>
          <a:xfrm>
            <a:off x="640080" y="5303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Jest tests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5669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99.9% 通過率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4069080"/>
            <a:ext cx="3657600" cy="2194560"/>
          </a:xfrm>
          <a:prstGeom prst="rect">
            <a:avLst/>
          </a:prstGeom>
          <a:solidFill>
            <a:srgbClr val="0E17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42519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6400" dirty="0"/>
          </a:p>
        </p:txBody>
      </p:sp>
      <p:sp>
        <p:nvSpPr>
          <p:cNvPr id="22" name="Text 20"/>
          <p:cNvSpPr/>
          <p:nvPr/>
        </p:nvSpPr>
        <p:spPr>
          <a:xfrm>
            <a:off x="4480560" y="5303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Autonomy mode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80560" y="5669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使用者可選自動程度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4069080"/>
            <a:ext cx="3657600" cy="2194560"/>
          </a:xfrm>
          <a:prstGeom prst="rect">
            <a:avLst/>
          </a:prstGeom>
          <a:solidFill>
            <a:srgbClr val="0E17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42519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</a:t>
            </a:r>
            <a:endParaRPr lang="en-US" sz="6400" dirty="0"/>
          </a:p>
        </p:txBody>
      </p:sp>
      <p:sp>
        <p:nvSpPr>
          <p:cNvPr id="26" name="Text 24"/>
          <p:cNvSpPr/>
          <p:nvPr/>
        </p:nvSpPr>
        <p:spPr>
          <a:xfrm>
            <a:off x="8321040" y="5303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Guardrail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21040" y="5669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安全閥 + killSwitch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 AI Agent 校園代理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23 / 25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 組員分工｜demo 時段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060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26060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🎓 學生 + 校園生活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周攸晨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187452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91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demo 時段：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2057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切學生 → +S1 agent → BusV2 → OnBusMode → 自動下單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554480"/>
            <a:ext cx="26060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554480"/>
            <a:ext cx="260604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600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👨‍🏫 老師 + AI 主軸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23317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顧晉瑋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3703320" y="3108960"/>
            <a:ext cx="187452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3291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demo 時段：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11880" y="3657600"/>
            <a:ext cx="2057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老師 cockpit → +T1 agent → 切 autonomy → +T2 demo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554480"/>
            <a:ext cx="26060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554480"/>
            <a:ext cx="2606040" cy="4572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600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🍱 餐廳 + Runtime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3317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楊世堅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6583680" y="3108960"/>
            <a:ext cx="1874520" cy="36576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291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demo 時段：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3657600"/>
            <a:ext cx="2057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切阿英 → +V1 久候自動補時 → 推進 + V2 預測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98280" y="1554480"/>
            <a:ext cx="26060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098280" y="1554480"/>
            <a:ext cx="260604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9720" y="1600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🏛 主任 + Web + Q&amp;A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81160" y="23317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吳容陞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9464040" y="3108960"/>
            <a:ext cx="187452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81160" y="3291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demo 時段：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372600" y="3657600"/>
            <a:ext cx="2057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切主任 → +D2 廣播 → Web 多身份 → 信任卡 → Q&amp;A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 AI Agent 校園代理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24 / 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Q &amp; A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感謝聆聽 · 歡迎指教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0" y="4480560"/>
            <a:ext cx="1554480" cy="36576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組員：周攸晨 · 顧晉瑋 · 楊世堅 · 吳容陞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5440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🤖 AI Agent 校園代理 v3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校園整合應用 App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25 / 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校園 AI Agent App v3</dc:title>
  <dc:subject>口試 Demo 簡報 v3</dc:subject>
  <dc:creator>周攸晨、顧晉瑋、楊世堅、吳容陞</dc:creator>
  <cp:lastModifiedBy>周攸晨、顧晉瑋、楊世堅、吳容陞</cp:lastModifiedBy>
  <cp:revision>1</cp:revision>
  <dcterms:created xsi:type="dcterms:W3CDTF">2026-05-16T10:51:11Z</dcterms:created>
  <dcterms:modified xsi:type="dcterms:W3CDTF">2026-05-16T10:51:11Z</dcterms:modified>
</cp:coreProperties>
</file>