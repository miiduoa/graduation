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角色 · 5 層 AI 架構 · 14 條跨角色聯動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3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14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27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4114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47472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跨角色事件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114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21792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Simulator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0" y="4114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96112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分鐘 Demo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組員：周攸晨 · 顧晉瑋 · 楊世堅 · 吳容陞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口試日 2026-05-23   ·   指導老師：____________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簡報目錄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問題與機會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 之外，校園缺什麼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不取代 LMS，做駕駛艙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26700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層 AI 架構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Perceive / Think / Act / Scan / Learn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26700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角色 cockpit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mobile + 3 Web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動作前演算 demo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aiPreReviewGrade / aiForecastBulkReminder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5661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事件 RoleEventBus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5720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709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73736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新功能 deep dive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學伴 / 公車 / 地圖 / Web 多身份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5720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4709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40664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信任卡 + Guardrail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0664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透明可審計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778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" y="5715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09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737360" y="5687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 + vs TronClass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737360" y="6080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5778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37960" y="5715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406640" y="5687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商轉 / Roadmap / Q&amp;A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06640" y="6080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 之外，校園缺什麼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資訊散落 5+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 + 學校網站 + 餐廳 LINE + 行事曆 + 各種公告。學生開 5 個 App 還不知道今天該做什麼。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5+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 chatbot 不懂校園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ChatGPT 不知道你有 5 門課、明天 3 個 deadline、缺哪節課。answer 無法 actionable。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0%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🔌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4124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角色之間零聯動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0392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老師發提醒 → 學生要刷新；餐廳出餐 → 學生不知道；主任公告 → 沒人看到。資料流是斷的。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斷裂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學生每天平均花 18 分鐘在「找資訊」上，而不是學習本身（自家用戶研究 n=23）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不是另一個 LMS — 是「校園駕駛艙」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01168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每個角色打開 App 看到的不是「全部功能」，而是「今天最該做的 3 件事」。AI 即時演算優先級。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3429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種事件走同一條 RoleEventBus。老師按下批改 → 學生 inbox 即時跳 + AI 重算今日待辦。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01168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 AI 5 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Perceive / Think / Act / Background Scan / Learn。所有 AI 計算在本地，不依賴外部 API key，斷網能跑。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201168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可審計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5715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條 Guardrail + 期末 AI 信任卡。學生看得到「AI 為你擋下幾次」、可隨時 killSwitch。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整體架構總覽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 層 (Presentation)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73736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 (RN + Expo)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cockpit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73736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(Next.js 16)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角色頁面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@campus/shared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548640" cy="13716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編排層 (Orchestration)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338328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aiBrain 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統一入口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38328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aiOrchestrator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動作前演算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338328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proactiveAIAgent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背景掃描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46320"/>
            <a:ext cx="5486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377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 + 事件層 (Data + Events)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80160" y="502920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事件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502920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Firestore + Auth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5029200"/>
            <a:ext cx="329184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5120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LMS 真源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26080" y="292608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26080" y="457200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46520" y="292608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46520" y="457200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66960" y="292608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966960" y="4572000"/>
            <a:ext cx="0" cy="274320"/>
          </a:xfrm>
          <a:prstGeom prst="line">
            <a:avLst/>
          </a:prstGeom>
          <a:noFill/>
          <a:ln w="2540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跨層走 React hook (useAuth, useProactiveAIAgentLoop) + service 函式調用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5 層架構：Perceive → Think → Act + Scan + Learn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8056" y="1691640"/>
            <a:ext cx="2121408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691640"/>
            <a:ext cx="21214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737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PERCEIVE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242316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aiAppContext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aiRealtimeSync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aiCrossModuleInference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aiRealtimeAnalytics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34056" y="1691640"/>
            <a:ext cx="2121408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4056" y="1691640"/>
            <a:ext cx="2121408" cy="5029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1737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THINK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25496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思考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6936" y="242316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aiOrchestrator (8 funcs)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aiThinking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aiSemanticReasoner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aiReflexion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0056" y="1691640"/>
            <a:ext cx="2121408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0056" y="1691640"/>
            <a:ext cx="21214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737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11496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02936" y="242316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aiActionCoordinator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aiSkillApplicator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條 guardrail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killSwitch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06056" y="1691640"/>
            <a:ext cx="2121408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691640"/>
            <a:ext cx="21214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737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97496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背景掃描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88936" y="242316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proactiveAIAgent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startBackgroundLoop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角色 scan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92056" y="1691640"/>
            <a:ext cx="2121408" cy="4023360"/>
          </a:xfrm>
          <a:prstGeom prst="rect">
            <a:avLst/>
          </a:prstGeom>
          <a:solidFill>
            <a:srgbClr val="FFFFFF"/>
          </a:solidFill>
          <a:ln w="3810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2056" y="1691640"/>
            <a:ext cx="2121408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83496" y="17373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83496" y="19385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74936" y="2423160"/>
            <a:ext cx="17556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aiContinualLearning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aiActiveLearning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aiLearning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0E1742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Hub: aiBrain (singleton, getAIBrain/useAIBrain)  ←  串起 5 層，被 SmartDashboard / AIFloatingBall / BrainInsightCards / GlobalAIConfirmModalHost 訂閱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角色設計依據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 核心 5（每天打開的人）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 顧晉瑋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駕駛艙 + 跨角色 inbox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 張怡君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預判補交率 + 起草評語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助教 林助教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即時求助 + 一鍵回覆 modal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 黃主任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系所健康度 + 一鍵廣播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5303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 阿英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623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訂單即時 +1 + AI 下一步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多 3（瀏覽器查的人）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196596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🏃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323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社團幹部 club_officer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招新 / 場地 / 經費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78892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⚙️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323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系統管理員 admin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/admin 使用者管理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61188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323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校友 alumni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3977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read-only Today + 校友活動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434840"/>
            <a:ext cx="5486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👤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訪客 guest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未登入行銷頁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設計依據：TronClass 真實使用情境（docs/TRONCLASS_REAL_SCHEMA_2026_05_13.md）+ 自家用戶研究 n=23 訪談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COCKPITS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 5 駕駛艙一覽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1554480"/>
            <a:ext cx="21214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8056" y="1554480"/>
            <a:ext cx="2121408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" y="2194560"/>
            <a:ext cx="1755648" cy="32918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30936" y="3291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22376" y="3794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TodayCockpit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722376" y="41148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S01-today-cockpit.png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" y="55778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uid：顧晉瑋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" y="5806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TodayCockpit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34056" y="1554480"/>
            <a:ext cx="21214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34056" y="1554480"/>
            <a:ext cx="21214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16936" y="2194560"/>
            <a:ext cx="1755648" cy="32918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916936" y="3291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008376" y="3794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TeacherCockpit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3008376" y="41148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S03-teacher-cockpit.png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25496" y="55778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uid：張怡君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25496" y="5806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TeacherCockpit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0056" y="1554480"/>
            <a:ext cx="21214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0056" y="1554480"/>
            <a:ext cx="21214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02936" y="2194560"/>
            <a:ext cx="1755648" cy="32918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202936" y="3291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294376" y="3794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TADashboard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5294376" y="41148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S06-ta-dashboard.png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11496" y="55778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uid：林助教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11496" y="5806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TADashboard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06056" y="1554480"/>
            <a:ext cx="21214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06056" y="1554480"/>
            <a:ext cx="212140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97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88936" y="2194560"/>
            <a:ext cx="1755648" cy="32918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488936" y="3291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7580376" y="3794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DepartmentDashboard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7580376" y="41148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S08-department-dashboard.png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97496" y="55778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uid：黃主任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97496" y="5806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DepartmentDashboard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92056" y="1554480"/>
            <a:ext cx="212140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592056" y="1554480"/>
            <a:ext cx="2121408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83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774936" y="2194560"/>
            <a:ext cx="1755648" cy="329184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9774936" y="3291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9866376" y="3794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VendorDashboard</a:t>
            </a:r>
            <a:endParaRPr lang="en-US" sz="1260" dirty="0"/>
          </a:p>
        </p:txBody>
      </p:sp>
      <p:sp>
        <p:nvSpPr>
          <p:cNvPr id="46" name="Text 44"/>
          <p:cNvSpPr/>
          <p:nvPr/>
        </p:nvSpPr>
        <p:spPr>
          <a:xfrm>
            <a:off x="9866376" y="41148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S07-vendor-dashboard.png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683496" y="55778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uid：阿英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83496" y="5806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VendorDashboard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1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學生視角｜TodayCockpit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TodayCockpit 截圖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S01-today-cockpit.png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490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V04 即時 inbox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V04-student-cockpit.mp4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0" y="169164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874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🎯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095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焦點 CTA 黑卡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planStudy 推算 next task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65176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9095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Hero AI summary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95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aiSummarizeStudentInbox 一句話建議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361188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3794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📥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9095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來自老師 section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即時推送（評語/提醒/公告）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457200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47548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9095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訂餐推薦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095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recommendMerchantsForStudent 依時段 + 喜好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553212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5715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5715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🏃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90956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校園生活速覽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095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getStudentLifeQuickFacts 公車/餐 ETA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2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老師視角｜TeacherCockpit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TeacherCockpit 截圖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S03-teacher-cockpit.png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490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起草評語 Modal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S04-ai-pre-review-banner.png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94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9494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0408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V03 AI Modal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V03-ai-pre-review.mp4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動作前演算（demo 主秀）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04120" y="2194560"/>
            <a:ext cx="1691640" cy="3931920"/>
          </a:xfrm>
          <a:prstGeom prst="rect">
            <a:avLst/>
          </a:prstGeom>
          <a:solidFill>
            <a:srgbClr val="F5F7F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aiPreReviewGrade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9556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forecast: 65→72 (+7)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955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confidence 80%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19556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needsConfirm: true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9556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9556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aiForecastBulkReminder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95560" y="5029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預估補交率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95560" y="5486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 user confirm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ROLES 3 - 5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 · 🏛 主任 · 🍱 餐廳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 林助教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200400" cy="2468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TADashboard</a:t>
            </a:r>
            <a:endParaRPr lang="en-US" sz="945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S06-ta-dashboard.png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🚨 高優先求助紅旗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🆕 即時學生發討論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🤖 aiTANextAction 決策層 + 4 severity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💬 Modal 直接回覆求助學生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55448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 黃主任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2286000"/>
            <a:ext cx="3200400" cy="2468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262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40" dirty="0"/>
          </a:p>
        </p:txBody>
      </p:sp>
      <p:sp>
        <p:nvSpPr>
          <p:cNvPr id="20" name="Text 18"/>
          <p:cNvSpPr/>
          <p:nvPr/>
        </p:nvSpPr>
        <p:spPr>
          <a:xfrm>
            <a:off x="461772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DepartmentDashboard</a:t>
            </a:r>
            <a:endParaRPr lang="en-US" sz="945" dirty="0"/>
          </a:p>
        </p:txBody>
      </p:sp>
      <p:sp>
        <p:nvSpPr>
          <p:cNvPr id="21" name="Text 19"/>
          <p:cNvSpPr/>
          <p:nvPr/>
        </p:nvSpPr>
        <p:spPr>
          <a:xfrm>
            <a:off x="46177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S08-department-dashboard.png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480560" y="4937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🤖 系所健康度（aiDepartmentHealthScore）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5303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🚩 topRisks 自動標記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5669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📢 一鍵廣播 → 全系 inbox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6035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🔴 全系即時動態瀑布流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 阿英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66760" y="2286000"/>
            <a:ext cx="3200400" cy="2468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240" dirty="0"/>
          </a:p>
        </p:txBody>
      </p:sp>
      <p:sp>
        <p:nvSpPr>
          <p:cNvPr id="31" name="Text 29"/>
          <p:cNvSpPr/>
          <p:nvPr/>
        </p:nvSpPr>
        <p:spPr>
          <a:xfrm>
            <a:off x="845820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VendorDashboard</a:t>
            </a:r>
            <a:endParaRPr lang="en-US" sz="945" dirty="0"/>
          </a:p>
        </p:txBody>
      </p:sp>
      <p:sp>
        <p:nvSpPr>
          <p:cNvPr id="32" name="Text 30"/>
          <p:cNvSpPr/>
          <p:nvPr/>
        </p:nvSpPr>
        <p:spPr>
          <a:xfrm>
            <a:off x="84582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S07-vendor-dashboard.png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8321040" y="4937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🤖 aiVendorNextAction 下一步建議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5303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🏪 多店切換 (merchant context)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5669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📋 訂單即時 +1（subscribe order_placed）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6035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• 🔄 開始備餐 → 待取 → 已交付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HIGHLIGHT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AI「動作前演算」— 跟 chatbot 的本質差別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164592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 AI（事後解釋）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使用者按按鈕 → AI 才開口說明發生什麼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（事後諸葛、無法阻止錯誤）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532120" cy="164592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 AI（事前演算）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按鈕前 → AI 先算「打下去會怎樣」→ 高影響跳 confirm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7 條 guardrail 自動擋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案例 1：aiPreReviewGrade（老師打分前）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794760"/>
            <a:ext cx="91440" cy="2651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input：courseId / homeworkId / studentUid / newScore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output：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suggestion: "這個分數會讓...",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forecast: { before: 65, after: 58, delta: -7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needsConfirm: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80,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affects: [{role: 'student'}, {role: 'department'}]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33832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案例 2：aiForecastBulkReminder（發提醒前）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794760"/>
            <a:ext cx="91440" cy="2651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input：homeworkTitle / hoursUntilDue / count / tone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output：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suggestion: "6 小時 + 鼓勵 tone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預估補交率 32%（偏低）",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needsConfirm: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70,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alternativeTones: ['strict', 'neutral']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跨角色聯動｜RoleEventBus 14 條事件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2377440"/>
            <a:ext cx="1828800" cy="1828800"/>
          </a:xfrm>
          <a:prstGeom prst="ellipse">
            <a:avLst/>
          </a:prstGeom>
          <a:solidFill>
            <a:srgbClr val="1E2761"/>
          </a:solidFill>
          <a:ln w="508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Event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483" y="2343750"/>
            <a:ext cx="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1832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41832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18037" y="2343750"/>
            <a:ext cx="-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37160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30112" y="4472182"/>
            <a:ext cx="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1832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41832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431408" y="4472182"/>
            <a:ext cx="-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0" y="44348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4526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394960" y="5303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4407408"/>
            <a:ext cx="0" cy="-155448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" y="56235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56692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📤 老師→學生 (7)：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grade_published · feedback_drafted · bulk_reminder_sent · attendance_session_opened · homework_published · peer_review_assigned · announcement_posted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562356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5669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📥 學生→老師 (4)：homework_submitted · attendance_checked_in · discussion_posted · help_requested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餐廳↔學生 (2)：order_placed · order_status_changed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📣 主任→全體 (1)：department_broadcast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LINK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雙手機示範｜學生下單 → 餐廳即時 +1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學生（iPhone A）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20040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V05 學生端下單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V05-vendor-receive.mp4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V05a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148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order_placed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事件流（&lt; 100ms）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 學生按「下單」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3026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 simulateStudentOrderFood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emitOrderPlaced → bus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867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 RoleEventBus 廣播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 VendorDashboard sub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6. setOrders push 新單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5129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7. pending 自動展開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5550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8. aiVendorNextAction 重算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3210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即時 +1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餐廳（iPhone B）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92640" y="1965960"/>
            <a:ext cx="201168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6926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7840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V06 餐廳推進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V06-vendor-advance.mp4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0" y="2057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NEW FEATURE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學伴配對｜4 維度透明推薦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V09 配對流程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V09-ai-study-buddy.mp4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554480"/>
            <a:ext cx="320040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9319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023360" y="3886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配對卡片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S11-ai-study-buddy.png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評分演算法（rankCandidates 純函式）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219456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194560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2402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039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共同課程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同一門課的人，討論問題比較有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315468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3154680"/>
            <a:ext cx="91440" cy="868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3200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0392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強弱互補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3566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 強 ML、B 弱 ML；A 弱 DB、B 強 DB → 互相教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411480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41148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0392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空堂重疊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168 小時時間矩陣計算可一起讀的空檔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507492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0" y="507492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5120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50392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學習風格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5486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視覺型 vs 聽覺型 vs 動手型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6126480"/>
            <a:ext cx="4572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6126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模式：📅 學期長期  ·  🆘 即時求助  ·  👥 組讀書會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NEW FEATURE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校園生活｜BusV2 + GoogleMapsLike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🚌 BusV2 + OnBusMode 沉浸搭車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56032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BusV2 地圖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S12-bus-v2.png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56032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9184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832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V11 OnBusMode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V11-on-bus-mode.mp4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🗺 GoogleMapsLike 校園地圖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2103120"/>
            <a:ext cx="256032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008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POI 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S16-google-maps-poi.png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219456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0" y="2103120"/>
            <a:ext cx="256032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0525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14400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導航 HUD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S17-google-maps-hud.png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219456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NEW FEATURE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多身份｜DemoRolePill + Admin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25880" cy="1280160"/>
          </a:xfrm>
          <a:prstGeom prst="rect">
            <a:avLst/>
          </a:prstGeom>
          <a:solidFill>
            <a:srgbClr val="8C9AAD"/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訪客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554480"/>
            <a:ext cx="13258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132588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132588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132588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🏃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社團幹部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554480"/>
            <a:ext cx="132588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58952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系主任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554480"/>
            <a:ext cx="1325880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0684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78440" y="1554480"/>
            <a:ext cx="1325880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42416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029200" cy="32004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首頁 + 右上 DemoRolePill</a:t>
            </a:r>
            <a:endParaRPr lang="en-US" sz="1225" dirty="0"/>
          </a:p>
        </p:txBody>
      </p:sp>
      <p:sp>
        <p:nvSpPr>
          <p:cNvPr id="31" name="Text 29"/>
          <p:cNvSpPr/>
          <p:nvPr/>
        </p:nvSpPr>
        <p:spPr>
          <a:xfrm>
            <a:off x="54864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S14-web-home-pill.png</a:t>
            </a:r>
            <a:endParaRPr lang="en-US" sz="875" dirty="0"/>
          </a:p>
        </p:txBody>
      </p:sp>
      <p:sp>
        <p:nvSpPr>
          <p:cNvPr id="32" name="Text 30"/>
          <p:cNvSpPr/>
          <p:nvPr/>
        </p:nvSpPr>
        <p:spPr>
          <a:xfrm>
            <a:off x="548640" y="3200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3108960"/>
            <a:ext cx="5029200" cy="32004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7607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58521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Alumni 攔截卡（你看不到 admin）</a:t>
            </a:r>
            <a:endParaRPr lang="en-US" sz="1225" dirty="0"/>
          </a:p>
        </p:txBody>
      </p:sp>
      <p:sp>
        <p:nvSpPr>
          <p:cNvPr id="36" name="Text 34"/>
          <p:cNvSpPr/>
          <p:nvPr/>
        </p:nvSpPr>
        <p:spPr>
          <a:xfrm>
            <a:off x="585216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S15-web-admin-block.png</a:t>
            </a:r>
            <a:endParaRPr lang="en-US" sz="875" dirty="0"/>
          </a:p>
        </p:txBody>
      </p:sp>
      <p:sp>
        <p:nvSpPr>
          <p:cNvPr id="37" name="Text 35"/>
          <p:cNvSpPr/>
          <p:nvPr/>
        </p:nvSpPr>
        <p:spPr>
          <a:xfrm>
            <a:off x="5852160" y="3200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V12-web-role-switch.mp4 — 8 角色切換流程預錄影片（請放入）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TRUST &amp; GUARDRAIL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透明可審計｜7 條 Guardrail + 信任卡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條 Guardrail（aiSkillApplicator）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每日上限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 10 次推送 / 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信心閾值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confidence &lt; 60% → ask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高影響先問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affects student → needsConfirm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9260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Quiet Hours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上課中 / 用餐尖峰 / 深夜自動擋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連拒煞車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 3 次拒絕同類 → 暫停 24h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38404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86200" y="4023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56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急停 killSwitch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用戶/管理員可全停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" y="4937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 AI 動作寫入可審計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1691640"/>
            <a:ext cx="4114800" cy="470916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589520" y="34975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7680960" y="40005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信任卡頁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0" y="43205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S18-ai-trust-card.png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178308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0.81 + Expo SDK 54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@campus/shared TS package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/ 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離線模型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MLX (Apple Silicon 訓練)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編排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個 ai*.ts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本地向量檢索（離線）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Auth + Firestore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tronClassClient adapter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Server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FastAPI（訓練用）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0233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950 / 951 (99.9%)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mode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 + Prettier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vs TronClass｜不取代它，串接它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7043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6916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704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148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LMS 真源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校園駕駛艙（高頻動作 + 跨角色 + AI）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17043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651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6517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層 27 個 service + 7 條 guardrail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704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54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聯動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3154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email / push 通知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315468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種 RoleEvent 即時跨 5 角色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7043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57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36576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需網路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65760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offline-first，AI 也離線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1704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校園生活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4160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416052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公車 / 地圖 / 餐廳 / 校園精靈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117043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663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透明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7400" y="46634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46634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信任卡 + Audit log + killSwitch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11704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51663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57400" y="5166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教師 / 學生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51663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角色（mobile 5 + Web 3）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7043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669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5669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PHP / MySQL（傳統）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9400" y="566928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RN + Next.js + 離線 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分鐘 demo / 4 組員串連 / 14 條事件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069848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907792"/>
            <a:ext cx="594360" cy="594360"/>
          </a:xfrm>
          <a:prstGeom prst="ellipse">
            <a:avLst/>
          </a:prstGeom>
          <a:solidFill>
            <a:srgbClr val="EF44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0:00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7632" y="2907792"/>
            <a:ext cx="594360" cy="59436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1:30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預判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2907792"/>
            <a:ext cx="594360" cy="5943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2:30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05072" y="2907792"/>
            <a:ext cx="594360" cy="5943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3:00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93792" y="2907792"/>
            <a:ext cx="594360" cy="59436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8348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4:30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2512" y="2907792"/>
            <a:ext cx="594360" cy="59436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5:30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71232" y="2907792"/>
            <a:ext cx="594360" cy="59436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🔴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6092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6:00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即時下單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59952" y="2907792"/>
            <a:ext cx="594360" cy="5943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4964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7:30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0392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48672" y="2907792"/>
            <a:ext cx="594360" cy="59436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867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💻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73836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8:50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926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多身份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137392" y="2907792"/>
            <a:ext cx="594360" cy="594360"/>
          </a:xfrm>
          <a:prstGeom prst="ellipse">
            <a:avLst/>
          </a:prstGeom>
          <a:solidFill>
            <a:srgbClr val="FF8C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37392" y="2907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🗺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92708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9:30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88136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校園地圖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↔ 👨‍🏫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152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即時推送，學生繳交→老師待批改 +1，老師批改→學生 inbox 進件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8912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↔ 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7200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雙手機示範：學生下單秒進餐廳訂單佇列，餐廳推進→學生收餐通知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22960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→ ALL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1248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主任一鍵廣播→全體 inbox；Web 端 8 角色切換驗證權限隔離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ROADMAP &amp; 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下一階段 + 商轉路徑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Q3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校內試行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個系所 5 門課 + 200 學生封閉 beta；收集 NPS + AI 採納率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554480"/>
            <a:ext cx="36576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Q4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agentReasoningEngine 接線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Plan→Execute→Verify→Synthesize 全本地 Agent loop；學伴 / 公車真即時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2027 Q1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校際 SaaS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 LMS adapter（TronClass / Moodle / Canvas）；學校付費，學生免費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歡迎指教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組員：周攸晨 · 顧晉瑋 · 楊世堅 · 吳容陞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專案 repo：graduation-campus-app monorepo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校園整合應用 App v2</dc:title>
  <dc:subject>口試 Demo 簡報 v2 · 2026-05-16</dc:subject>
  <dc:creator>周攸晨、顧晉瑋、楊世堅、吳容陞</dc:creator>
  <cp:lastModifiedBy>周攸晨、顧晉瑋、楊世堅、吳容陞</cp:lastModifiedBy>
  <cp:revision>1</cp:revision>
  <dcterms:created xsi:type="dcterms:W3CDTF">2026-05-16T07:24:02Z</dcterms:created>
  <dcterms:modified xsi:type="dcterms:W3CDTF">2026-05-16T07:24:02Z</dcterms:modified>
</cp:coreProperties>
</file>